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6" r:id="rId2"/>
    <p:sldId id="257" r:id="rId3"/>
    <p:sldId id="267" r:id="rId4"/>
    <p:sldId id="258" r:id="rId5"/>
    <p:sldId id="259" r:id="rId6"/>
    <p:sldId id="268" r:id="rId7"/>
    <p:sldId id="269" r:id="rId8"/>
    <p:sldId id="270" r:id="rId9"/>
    <p:sldId id="271" r:id="rId10"/>
    <p:sldId id="260" r:id="rId11"/>
    <p:sldId id="272" r:id="rId12"/>
    <p:sldId id="261" r:id="rId13"/>
    <p:sldId id="262" r:id="rId14"/>
    <p:sldId id="273" r:id="rId15"/>
    <p:sldId id="274" r:id="rId16"/>
    <p:sldId id="263" r:id="rId17"/>
    <p:sldId id="264" r:id="rId18"/>
    <p:sldId id="265"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80"/>
    <p:restoredTop sz="81662"/>
  </p:normalViewPr>
  <p:slideViewPr>
    <p:cSldViewPr snapToGrid="0">
      <p:cViewPr varScale="1">
        <p:scale>
          <a:sx n="95" d="100"/>
          <a:sy n="95" d="100"/>
        </p:scale>
        <p:origin x="200"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ECE732-13F5-354E-B64A-87AC731340A1}" type="datetimeFigureOut">
              <a:rPr lang="en-US" smtClean="0"/>
              <a:t>6/22/25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ACE3BF-D836-BB46-9E5F-69ED0597BCEF}" type="slidenum">
              <a:rPr lang="en-US" smtClean="0"/>
              <a:t>‹#›</a:t>
            </a:fld>
            <a:endParaRPr lang="en-US"/>
          </a:p>
        </p:txBody>
      </p:sp>
    </p:spTree>
    <p:extLst>
      <p:ext uri="{BB962C8B-B14F-4D97-AF65-F5344CB8AC3E}">
        <p14:creationId xmlns:p14="http://schemas.microsoft.com/office/powerpoint/2010/main" val="339598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"Hello everyone, my name is Abhilash, and this is my practicum project on </a:t>
            </a:r>
            <a:r>
              <a:rPr lang="en-IN" i="1" dirty="0"/>
              <a:t>‘The Impact of Remote Work on Mental Health’</a:t>
            </a:r>
            <a:r>
              <a:rPr lang="en-IN" dirty="0"/>
              <a:t>. In this project, I developed a machine learning-based analytical tool  which runs on custom trained machine and deep learning models to identify mental health risk levels for remote workers, using a custom-built </a:t>
            </a:r>
            <a:r>
              <a:rPr lang="en-IN" dirty="0" err="1"/>
              <a:t>Streamlit</a:t>
            </a:r>
            <a:r>
              <a:rPr lang="en-IN" dirty="0"/>
              <a:t> app."</a:t>
            </a:r>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1</a:t>
            </a:fld>
            <a:endParaRPr lang="en-US"/>
          </a:p>
        </p:txBody>
      </p:sp>
    </p:spTree>
    <p:extLst>
      <p:ext uri="{BB962C8B-B14F-4D97-AF65-F5344CB8AC3E}">
        <p14:creationId xmlns:p14="http://schemas.microsoft.com/office/powerpoint/2010/main" val="1160907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goal of this project is to understand how different remote work conditions may contribute to mental health risks. Using a combination of machine learning and data visualization, I developed a tool to help individuals and organizations assess risk indicators. The final product is an accessible, interactive web app powered by </a:t>
            </a:r>
            <a:r>
              <a:rPr lang="en-IN" dirty="0" err="1"/>
              <a:t>Streamlit</a:t>
            </a:r>
            <a:r>
              <a:rPr lang="en-IN" dirty="0"/>
              <a:t>.</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2</a:t>
            </a:fld>
            <a:endParaRPr lang="en-US"/>
          </a:p>
        </p:txBody>
      </p:sp>
    </p:spTree>
    <p:extLst>
      <p:ext uri="{BB962C8B-B14F-4D97-AF65-F5344CB8AC3E}">
        <p14:creationId xmlns:p14="http://schemas.microsoft.com/office/powerpoint/2010/main" val="3466569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dataset used in this project part of Kaggle community includes survey responses covering demographic details and remote work-related mental health factors. Features like age, gender, and support systems were crucial for </a:t>
            </a:r>
            <a:r>
              <a:rPr lang="en-IN" dirty="0" err="1"/>
              <a:t>modeling</a:t>
            </a:r>
            <a:r>
              <a:rPr lang="en-IN" dirty="0"/>
              <a:t>. After cleaning and preprocessing, the dataset was ready for analysis and model training.</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4</a:t>
            </a:fld>
            <a:endParaRPr lang="en-US"/>
          </a:p>
        </p:txBody>
      </p:sp>
    </p:spTree>
    <p:extLst>
      <p:ext uri="{BB962C8B-B14F-4D97-AF65-F5344CB8AC3E}">
        <p14:creationId xmlns:p14="http://schemas.microsoft.com/office/powerpoint/2010/main" val="3552869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During the exploratory data analysis phase, I uncovered important trends. Employees without support from their companies had a higher incidence of mental health issues. Flexibility in working hours also correlated with better mental wellbeing. Visual tools like Seaborn and Matplotlib were instrumental in identifying these patterns. Additionally, I engineered features from categorical and ordinal variables to enhance model training and interpretability. The target variable, </a:t>
            </a:r>
            <a:r>
              <a:rPr lang="en-IN" dirty="0" err="1"/>
              <a:t>Stress_Level</a:t>
            </a:r>
            <a:r>
              <a:rPr lang="en-IN" dirty="0"/>
              <a:t>, was mapped to represent increasing levels of mental health risk.</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5</a:t>
            </a:fld>
            <a:endParaRPr lang="en-US"/>
          </a:p>
        </p:txBody>
      </p:sp>
    </p:spTree>
    <p:extLst>
      <p:ext uri="{BB962C8B-B14F-4D97-AF65-F5344CB8AC3E}">
        <p14:creationId xmlns:p14="http://schemas.microsoft.com/office/powerpoint/2010/main" val="456736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9221E-09A1-6CD8-886E-72AB45601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61358-EA32-045C-D53A-023CC5323E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9E3B-4B01-2BC4-1BD0-00541150EB0D}"/>
              </a:ext>
            </a:extLst>
          </p:cNvPr>
          <p:cNvSpPr>
            <a:spLocks noGrp="1"/>
          </p:cNvSpPr>
          <p:nvPr>
            <p:ph type="body" idx="1"/>
          </p:nvPr>
        </p:nvSpPr>
        <p:spPr/>
        <p:txBody>
          <a:bodyPr/>
          <a:lstStyle/>
          <a:p>
            <a:r>
              <a:rPr lang="en-US" dirty="0"/>
              <a:t>This slide explains the multiple features in data along with type of the data and missing data information</a:t>
            </a:r>
          </a:p>
        </p:txBody>
      </p:sp>
      <p:sp>
        <p:nvSpPr>
          <p:cNvPr id="4" name="Slide Number Placeholder 3">
            <a:extLst>
              <a:ext uri="{FF2B5EF4-FFF2-40B4-BE49-F238E27FC236}">
                <a16:creationId xmlns:a16="http://schemas.microsoft.com/office/drawing/2014/main" id="{F8879095-1C23-BBE5-AD28-0C24A129B9EA}"/>
              </a:ext>
            </a:extLst>
          </p:cNvPr>
          <p:cNvSpPr>
            <a:spLocks noGrp="1"/>
          </p:cNvSpPr>
          <p:nvPr>
            <p:ph type="sldNum" sz="quarter" idx="5"/>
          </p:nvPr>
        </p:nvSpPr>
        <p:spPr/>
        <p:txBody>
          <a:bodyPr/>
          <a:lstStyle/>
          <a:p>
            <a:fld id="{DBACE3BF-D836-BB46-9E5F-69ED0597BCEF}" type="slidenum">
              <a:rPr lang="en-US" smtClean="0"/>
              <a:t>6</a:t>
            </a:fld>
            <a:endParaRPr lang="en-US"/>
          </a:p>
        </p:txBody>
      </p:sp>
    </p:spTree>
    <p:extLst>
      <p:ext uri="{BB962C8B-B14F-4D97-AF65-F5344CB8AC3E}">
        <p14:creationId xmlns:p14="http://schemas.microsoft.com/office/powerpoint/2010/main" val="2630140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1C984-8A35-06B6-C30D-F97AF922A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8CAE9-9F56-84E2-0CF9-600AB6AF5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3A8E3-CCDC-9284-583B-776C59F7A4B2}"/>
              </a:ext>
            </a:extLst>
          </p:cNvPr>
          <p:cNvSpPr>
            <a:spLocks noGrp="1"/>
          </p:cNvSpPr>
          <p:nvPr>
            <p:ph type="body" idx="1"/>
          </p:nvPr>
        </p:nvSpPr>
        <p:spPr/>
        <p:txBody>
          <a:bodyPr/>
          <a:lstStyle/>
          <a:p>
            <a:r>
              <a:rPr lang="en-IN" dirty="0"/>
              <a:t>This is the correlation heatmap of the main numerical features in the dataset. Each square shows the strength and direction of the relationship between two variables. For example, age and years of experience have almost no correlation here, and we can see the same trend across most other feature pairs. Since the dataset is synthetically generated, we don’t observe strong natural correlations, which is expected. However, this step helped ensure there were no highly correlated features that could introduce redundancy or bias into the model. It also confirmed that our features are mostly independent, which is ideal for many machine learning algorithms.</a:t>
            </a:r>
            <a:endParaRPr lang="en-US" dirty="0"/>
          </a:p>
        </p:txBody>
      </p:sp>
      <p:sp>
        <p:nvSpPr>
          <p:cNvPr id="4" name="Slide Number Placeholder 3">
            <a:extLst>
              <a:ext uri="{FF2B5EF4-FFF2-40B4-BE49-F238E27FC236}">
                <a16:creationId xmlns:a16="http://schemas.microsoft.com/office/drawing/2014/main" id="{650D5DF1-197C-1786-FD16-0C00A0A8D348}"/>
              </a:ext>
            </a:extLst>
          </p:cNvPr>
          <p:cNvSpPr>
            <a:spLocks noGrp="1"/>
          </p:cNvSpPr>
          <p:nvPr>
            <p:ph type="sldNum" sz="quarter" idx="5"/>
          </p:nvPr>
        </p:nvSpPr>
        <p:spPr/>
        <p:txBody>
          <a:bodyPr/>
          <a:lstStyle/>
          <a:p>
            <a:fld id="{DBACE3BF-D836-BB46-9E5F-69ED0597BCEF}" type="slidenum">
              <a:rPr lang="en-US" smtClean="0"/>
              <a:t>7</a:t>
            </a:fld>
            <a:endParaRPr lang="en-US"/>
          </a:p>
        </p:txBody>
      </p:sp>
    </p:spTree>
    <p:extLst>
      <p:ext uri="{BB962C8B-B14F-4D97-AF65-F5344CB8AC3E}">
        <p14:creationId xmlns:p14="http://schemas.microsoft.com/office/powerpoint/2010/main" val="791514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3C79-F075-5019-B6E7-8DA4042CD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DA5D1-3D64-512A-D6D6-AD7F0D494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B4821-A89B-0772-CEC3-6BF2285AAA5B}"/>
              </a:ext>
            </a:extLst>
          </p:cNvPr>
          <p:cNvSpPr>
            <a:spLocks noGrp="1"/>
          </p:cNvSpPr>
          <p:nvPr>
            <p:ph type="body" idx="1"/>
          </p:nvPr>
        </p:nvSpPr>
        <p:spPr/>
        <p:txBody>
          <a:bodyPr/>
          <a:lstStyle/>
          <a:p>
            <a:r>
              <a:rPr lang="en-IN" dirty="0"/>
              <a:t>This bar plot shows the distribution of the target variable: stress levels. The stress levels are divided into three classes — low, medium, and high — and the counts are quite balanced across all three. Medium and high stress levels are slightly more frequent than low stress. This balanced distribution is important because it means the model won’t be biased toward any one class. It also allowed us to use standard accuracy and F1-score metrics without needing special balancing techniques. Overall, it confirmed that the dataset was suitable for a multi-class classification task.</a:t>
            </a:r>
            <a:endParaRPr lang="en-US" dirty="0"/>
          </a:p>
        </p:txBody>
      </p:sp>
      <p:sp>
        <p:nvSpPr>
          <p:cNvPr id="4" name="Slide Number Placeholder 3">
            <a:extLst>
              <a:ext uri="{FF2B5EF4-FFF2-40B4-BE49-F238E27FC236}">
                <a16:creationId xmlns:a16="http://schemas.microsoft.com/office/drawing/2014/main" id="{607959D6-770F-B64B-FC09-B0014CFDF487}"/>
              </a:ext>
            </a:extLst>
          </p:cNvPr>
          <p:cNvSpPr>
            <a:spLocks noGrp="1"/>
          </p:cNvSpPr>
          <p:nvPr>
            <p:ph type="sldNum" sz="quarter" idx="5"/>
          </p:nvPr>
        </p:nvSpPr>
        <p:spPr/>
        <p:txBody>
          <a:bodyPr/>
          <a:lstStyle/>
          <a:p>
            <a:fld id="{DBACE3BF-D836-BB46-9E5F-69ED0597BCEF}" type="slidenum">
              <a:rPr lang="en-US" smtClean="0"/>
              <a:t>8</a:t>
            </a:fld>
            <a:endParaRPr lang="en-US"/>
          </a:p>
        </p:txBody>
      </p:sp>
    </p:spTree>
    <p:extLst>
      <p:ext uri="{BB962C8B-B14F-4D97-AF65-F5344CB8AC3E}">
        <p14:creationId xmlns:p14="http://schemas.microsoft.com/office/powerpoint/2010/main" val="1644604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AA8FF-8CAF-1296-2612-4ABFBBEA7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9C725-968A-C984-20BE-04F079C33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F38FC-5A1C-45C7-2D8C-304B37CCFA34}"/>
              </a:ext>
            </a:extLst>
          </p:cNvPr>
          <p:cNvSpPr>
            <a:spLocks noGrp="1"/>
          </p:cNvSpPr>
          <p:nvPr>
            <p:ph type="body" idx="1"/>
          </p:nvPr>
        </p:nvSpPr>
        <p:spPr/>
        <p:txBody>
          <a:bodyPr/>
          <a:lstStyle/>
          <a:p>
            <a:r>
              <a:rPr lang="en-IN" dirty="0"/>
              <a:t>It is important to highlight that the dataset used in this project is synthetically generated. As such, it may not represent actual population distributions, and the model’s ability to generalize is limited. However, for the purposes of learning, research, and demonstrating tool functionality, this dataset was sufficient and enabled the development of a working end-to-end solution.</a:t>
            </a:r>
          </a:p>
        </p:txBody>
      </p:sp>
      <p:sp>
        <p:nvSpPr>
          <p:cNvPr id="4" name="Slide Number Placeholder 3">
            <a:extLst>
              <a:ext uri="{FF2B5EF4-FFF2-40B4-BE49-F238E27FC236}">
                <a16:creationId xmlns:a16="http://schemas.microsoft.com/office/drawing/2014/main" id="{AF647C43-4D53-BB81-AA30-B69FD6F0A351}"/>
              </a:ext>
            </a:extLst>
          </p:cNvPr>
          <p:cNvSpPr>
            <a:spLocks noGrp="1"/>
          </p:cNvSpPr>
          <p:nvPr>
            <p:ph type="sldNum" sz="quarter" idx="5"/>
          </p:nvPr>
        </p:nvSpPr>
        <p:spPr/>
        <p:txBody>
          <a:bodyPr/>
          <a:lstStyle/>
          <a:p>
            <a:fld id="{DBACE3BF-D836-BB46-9E5F-69ED0597BCEF}" type="slidenum">
              <a:rPr lang="en-US" smtClean="0"/>
              <a:t>9</a:t>
            </a:fld>
            <a:endParaRPr lang="en-US"/>
          </a:p>
        </p:txBody>
      </p:sp>
    </p:spTree>
    <p:extLst>
      <p:ext uri="{BB962C8B-B14F-4D97-AF65-F5344CB8AC3E}">
        <p14:creationId xmlns:p14="http://schemas.microsoft.com/office/powerpoint/2010/main" val="3734761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 evaluated several classification models to predict the likelihood of mental health concerns. In addition to traditional models, I also experimented with a custom neural network. The architecture consists of an input layer with 128 neurons using ReLU activation, followed by a 30% dropout layer to reduce overfitting. This is followed by a hidden layer of 64 neurons, another dropout layer, and finally, an output layer using </a:t>
            </a:r>
            <a:r>
              <a:rPr lang="en-IN" dirty="0" err="1"/>
              <a:t>softmax</a:t>
            </a:r>
            <a:r>
              <a:rPr lang="en-IN" dirty="0"/>
              <a:t> for classification. While this model offered decent results, it was slightly outperformed by </a:t>
            </a:r>
            <a:r>
              <a:rPr lang="en-IN" dirty="0" err="1"/>
              <a:t>LightGBM</a:t>
            </a:r>
            <a:r>
              <a:rPr lang="en-IN" dirty="0"/>
              <a:t> in terms of generalization and interpretability for this particular dataset. Feature importance graphs helped break down what influenced each prediction.</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10</a:t>
            </a:fld>
            <a:endParaRPr lang="en-US"/>
          </a:p>
        </p:txBody>
      </p:sp>
    </p:spTree>
    <p:extLst>
      <p:ext uri="{BB962C8B-B14F-4D97-AF65-F5344CB8AC3E}">
        <p14:creationId xmlns:p14="http://schemas.microsoft.com/office/powerpoint/2010/main" val="188973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C9457-E0FE-1882-61E2-A6D59FB7C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129D6-C393-3D66-1416-1D64D375F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929F12-B1FE-491F-0394-8F86F94C761F}"/>
              </a:ext>
            </a:extLst>
          </p:cNvPr>
          <p:cNvSpPr>
            <a:spLocks noGrp="1"/>
          </p:cNvSpPr>
          <p:nvPr>
            <p:ph type="body" idx="1"/>
          </p:nvPr>
        </p:nvSpPr>
        <p:spPr/>
        <p:txBody>
          <a:bodyPr/>
          <a:lstStyle/>
          <a:p>
            <a:r>
              <a:rPr lang="en-IN" dirty="0" err="1"/>
              <a:t>LightGBM</a:t>
            </a:r>
            <a:r>
              <a:rPr lang="en-IN" dirty="0"/>
              <a:t> emerged as the best performer, offering high accuracy and interpretability. The feature importance plot shown here ranks input variables based on their impact on the model’s predictions. As seen in the plot, the top contributors are Age, Hours Worked Per Week, and Years of Experience. These are followed by variables like the Number of Virtual Meetings, Social Isolation Rating, and Company Support for Remote Work. This suggests that workload and workplace support systems are strong indicators of stress levels in remote environments. Less impactful features such as job roles, industry, or region reflect the synthetic nature of the dataset, but still help simulate diverse scenarios for tool demonstration.</a:t>
            </a:r>
          </a:p>
        </p:txBody>
      </p:sp>
      <p:sp>
        <p:nvSpPr>
          <p:cNvPr id="4" name="Slide Number Placeholder 3">
            <a:extLst>
              <a:ext uri="{FF2B5EF4-FFF2-40B4-BE49-F238E27FC236}">
                <a16:creationId xmlns:a16="http://schemas.microsoft.com/office/drawing/2014/main" id="{9568BE70-82AD-2726-7DE5-552CFCCCF89A}"/>
              </a:ext>
            </a:extLst>
          </p:cNvPr>
          <p:cNvSpPr>
            <a:spLocks noGrp="1"/>
          </p:cNvSpPr>
          <p:nvPr>
            <p:ph type="sldNum" sz="quarter" idx="5"/>
          </p:nvPr>
        </p:nvSpPr>
        <p:spPr/>
        <p:txBody>
          <a:bodyPr/>
          <a:lstStyle/>
          <a:p>
            <a:fld id="{DBACE3BF-D836-BB46-9E5F-69ED0597BCEF}" type="slidenum">
              <a:rPr lang="en-US" smtClean="0"/>
              <a:t>11</a:t>
            </a:fld>
            <a:endParaRPr lang="en-US"/>
          </a:p>
        </p:txBody>
      </p:sp>
    </p:spTree>
    <p:extLst>
      <p:ext uri="{BB962C8B-B14F-4D97-AF65-F5344CB8AC3E}">
        <p14:creationId xmlns:p14="http://schemas.microsoft.com/office/powerpoint/2010/main" val="370800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project culminated in an easy-to-use </a:t>
            </a:r>
            <a:r>
              <a:rPr lang="en-IN" dirty="0" err="1"/>
              <a:t>Streamlit</a:t>
            </a:r>
            <a:r>
              <a:rPr lang="en-IN" dirty="0"/>
              <a:t> web application. Users can upload their data or use sample entries to see mental health risk predictions in real-time. The app not only displays the outcome but also shows what factors led to the prediction.</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12</a:t>
            </a:fld>
            <a:endParaRPr lang="en-US"/>
          </a:p>
        </p:txBody>
      </p:sp>
    </p:spTree>
    <p:extLst>
      <p:ext uri="{BB962C8B-B14F-4D97-AF65-F5344CB8AC3E}">
        <p14:creationId xmlns:p14="http://schemas.microsoft.com/office/powerpoint/2010/main" val="3349531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of the tool highlighting the metrics of the multiple models trained and sample predictions on the test data for those multiple models</a:t>
            </a:r>
          </a:p>
        </p:txBody>
      </p:sp>
      <p:sp>
        <p:nvSpPr>
          <p:cNvPr id="4" name="Slide Number Placeholder 3"/>
          <p:cNvSpPr>
            <a:spLocks noGrp="1"/>
          </p:cNvSpPr>
          <p:nvPr>
            <p:ph type="sldNum" sz="quarter" idx="5"/>
          </p:nvPr>
        </p:nvSpPr>
        <p:spPr/>
        <p:txBody>
          <a:bodyPr/>
          <a:lstStyle/>
          <a:p>
            <a:fld id="{DBACE3BF-D836-BB46-9E5F-69ED0597BCEF}" type="slidenum">
              <a:rPr lang="en-US" smtClean="0"/>
              <a:t>13</a:t>
            </a:fld>
            <a:endParaRPr lang="en-US"/>
          </a:p>
        </p:txBody>
      </p:sp>
    </p:spTree>
    <p:extLst>
      <p:ext uri="{BB962C8B-B14F-4D97-AF65-F5344CB8AC3E}">
        <p14:creationId xmlns:p14="http://schemas.microsoft.com/office/powerpoint/2010/main" val="830720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displays the input interface of the application. To get a prediction, users enter several personal and work-related details. These include age, gender, job role, and work location. Two sliders allow dynamic input of weekly working hours and self-rated work-life balance. The interface has been carefully designed for clarity and ease of use, ensuring that users of any background can navigate the form and receive a prediction without confusion. This helps reinforce accessibility and user engagement for the tool.</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14</a:t>
            </a:fld>
            <a:endParaRPr lang="en-US"/>
          </a:p>
        </p:txBody>
      </p:sp>
    </p:spTree>
    <p:extLst>
      <p:ext uri="{BB962C8B-B14F-4D97-AF65-F5344CB8AC3E}">
        <p14:creationId xmlns:p14="http://schemas.microsoft.com/office/powerpoint/2010/main" val="4006363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Model selected: </a:t>
            </a:r>
            <a:r>
              <a:rPr lang="en-IN" dirty="0" err="1"/>
              <a:t>LightGBM</a:t>
            </a:r>
            <a:endParaRPr lang="en-IN" dirty="0"/>
          </a:p>
          <a:p>
            <a:r>
              <a:rPr lang="en-IN" dirty="0"/>
              <a:t>Prediction: Stress Level = Low</a:t>
            </a:r>
          </a:p>
          <a:p>
            <a:r>
              <a:rPr lang="en-IN" dirty="0"/>
              <a:t>Confidence scores: Low – 48.0%, Medium – 39.2%, High – 12.8%</a:t>
            </a:r>
          </a:p>
          <a:p>
            <a:r>
              <a:rPr lang="en-IN" dirty="0"/>
              <a:t>Recommendation Plan:</a:t>
            </a:r>
          </a:p>
          <a:p>
            <a:pPr lvl="1"/>
            <a:r>
              <a:rPr lang="en-IN" dirty="0"/>
              <a:t>Maintain current programs</a:t>
            </a:r>
          </a:p>
          <a:p>
            <a:pPr lvl="1"/>
            <a:r>
              <a:rPr lang="en-IN" dirty="0"/>
              <a:t>Encourage PTO (Paid Time Off)</a:t>
            </a:r>
          </a:p>
          <a:p>
            <a:pPr lvl="1"/>
            <a:r>
              <a:rPr lang="en-IN" dirty="0"/>
              <a:t>Conduct regular wellness checks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illustrates a sample output from the </a:t>
            </a:r>
            <a:r>
              <a:rPr lang="en-IN" dirty="0" err="1"/>
              <a:t>Streamlit</a:t>
            </a:r>
            <a:r>
              <a:rPr lang="en-IN" dirty="0"/>
              <a:t> app. The user selects a model—here, the </a:t>
            </a:r>
            <a:r>
              <a:rPr lang="en-IN" dirty="0" err="1"/>
              <a:t>LightGBM</a:t>
            </a:r>
            <a:r>
              <a:rPr lang="en-IN" dirty="0"/>
              <a:t> model—and clicks ‘</a:t>
            </a:r>
            <a:r>
              <a:rPr lang="en-IN" dirty="0" err="1"/>
              <a:t>Analyze</a:t>
            </a:r>
            <a:r>
              <a:rPr lang="en-IN" dirty="0"/>
              <a:t> Stress’. The app predicts a 'Low' stress level, with confidence scores across all three classes displayed clearly. Along with this result, the app also generates a management plan tailored to the risk level, suggesting actionable steps like maintaining wellness programs and encouraging PTO. This design helps turn predictive insights into practical recommendations for individuals or HR teams.</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15</a:t>
            </a:fld>
            <a:endParaRPr lang="en-US"/>
          </a:p>
        </p:txBody>
      </p:sp>
    </p:spTree>
    <p:extLst>
      <p:ext uri="{BB962C8B-B14F-4D97-AF65-F5344CB8AC3E}">
        <p14:creationId xmlns:p14="http://schemas.microsoft.com/office/powerpoint/2010/main" val="2600126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One of the first challenges I faced was depending too much on AI tools like ChatGPT to help with code. While they were useful for getting started, I realized I wasn’t understanding the logic behind the code deeply enough. This made my early progress feel superficial, and I had to take a step back to really study the dataset and define the problem clearly.</a:t>
            </a:r>
          </a:p>
          <a:p>
            <a:r>
              <a:rPr lang="en-IN" dirty="0"/>
              <a:t>Another major challenge was in feature engineering. I tried multiple methods such as label encoding for categorical variables, one-hot encoding for features like gender and work location, and scaling techniques where needed. I had to experiment with which features made the most sense and which ones were confusing the model.</a:t>
            </a:r>
          </a:p>
          <a:p>
            <a:r>
              <a:rPr lang="en-IN" dirty="0"/>
              <a:t>I also tested various machine learning models before finalizing the best ones. These included Logistic Regression, Random Forest, </a:t>
            </a:r>
            <a:r>
              <a:rPr lang="en-IN" dirty="0" err="1"/>
              <a:t>LightGBM</a:t>
            </a:r>
            <a:r>
              <a:rPr lang="en-IN" dirty="0"/>
              <a:t>, and a custom-built Neural Network using TensorFlow. Each model had its pros and cons. For example, </a:t>
            </a:r>
            <a:r>
              <a:rPr lang="en-IN" dirty="0" err="1"/>
              <a:t>LightGBM</a:t>
            </a:r>
            <a:r>
              <a:rPr lang="en-IN" dirty="0"/>
              <a:t> gave good accuracy and interpretability, while the neural network needed more tuning to perform well.</a:t>
            </a:r>
          </a:p>
          <a:p>
            <a:r>
              <a:rPr lang="en-IN" dirty="0"/>
              <a:t>Making the </a:t>
            </a:r>
            <a:r>
              <a:rPr lang="en-IN" dirty="0" err="1"/>
              <a:t>Streamlit</a:t>
            </a:r>
            <a:r>
              <a:rPr lang="en-IN" dirty="0"/>
              <a:t> app user-friendly was another learning curve. At first, it was just a basic UI, but I had to rework it several times to improve clarity, add slider inputs, better prediction outputs, and a clear management plan section.</a:t>
            </a:r>
          </a:p>
          <a:p>
            <a:r>
              <a:rPr lang="en-IN" dirty="0"/>
              <a:t>Lastly, since the dataset was synthetically generated, it didn’t have natural trends like real-world data. This made pattern recognition and model training more difficult. But for research and tool design purposes, it still allowed me to test ideas and develop a complete end-to-end solution.</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16</a:t>
            </a:fld>
            <a:endParaRPr lang="en-US"/>
          </a:p>
        </p:txBody>
      </p:sp>
    </p:spTree>
    <p:extLst>
      <p:ext uri="{BB962C8B-B14F-4D97-AF65-F5344CB8AC3E}">
        <p14:creationId xmlns:p14="http://schemas.microsoft.com/office/powerpoint/2010/main" val="3871194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project helped me grow both technically and personally. First, I learned how to take a machine learning problem from start to finish — including data understanding, cleaning, feature engineering, model training, evaluation, and deploying the results into a working tool.</a:t>
            </a:r>
          </a:p>
          <a:p>
            <a:r>
              <a:rPr lang="en-IN" dirty="0"/>
              <a:t>I tried multiple models like Logistic Regression, Random Forest, </a:t>
            </a:r>
            <a:r>
              <a:rPr lang="en-IN" dirty="0" err="1"/>
              <a:t>LightGBM</a:t>
            </a:r>
            <a:r>
              <a:rPr lang="en-IN" dirty="0"/>
              <a:t>, and a custom Neural Network built using TensorFlow. I compared their performance and chose </a:t>
            </a:r>
            <a:r>
              <a:rPr lang="en-IN" dirty="0" err="1"/>
              <a:t>LightGBM</a:t>
            </a:r>
            <a:r>
              <a:rPr lang="en-IN" dirty="0"/>
              <a:t> as the final model based on its accuracy, speed, and how easily I could explain its results using feature importance plots.</a:t>
            </a:r>
          </a:p>
          <a:p>
            <a:r>
              <a:rPr lang="en-IN" dirty="0"/>
              <a:t>On the feature engineering side, I applied label encoding, one-hot encoding, and transformation of features like 'Work-Life Balance' and 'Sleep Quality' into meaningful numerical values. I also had to deal with imbalanced class labels for the stress levels, which required testing different data splitting techniques to make sure the models weren’t biased.</a:t>
            </a:r>
          </a:p>
          <a:p>
            <a:r>
              <a:rPr lang="en-IN" dirty="0"/>
              <a:t>I also learned how to use </a:t>
            </a:r>
            <a:r>
              <a:rPr lang="en-IN" dirty="0" err="1"/>
              <a:t>Streamlit</a:t>
            </a:r>
            <a:r>
              <a:rPr lang="en-IN" dirty="0"/>
              <a:t> to create an app that’s clean and simple for users. I made sure the tool could take inputs from users, generate predictions, and even give suggestions based on the predicted stress level.</a:t>
            </a:r>
          </a:p>
          <a:p>
            <a:r>
              <a:rPr lang="en-IN" dirty="0"/>
              <a:t>Beyond the technical part, I understood how remote work can affect mental health — especially how factors like long hours, lack of support, or poor work-life balance can increase stress.</a:t>
            </a:r>
          </a:p>
          <a:p>
            <a:r>
              <a:rPr lang="en-IN" dirty="0"/>
              <a:t>Most importantly, I realized the need for responsibility while using AI. Just because we can predict something doesn’t mean it’s always right or enough. We must always consider the human side when working on problems related to mental health or personal wellbeing. Technology should support empathy, not replace it.</a:t>
            </a:r>
          </a:p>
          <a:p>
            <a:endParaRPr lang="en-US" dirty="0"/>
          </a:p>
        </p:txBody>
      </p:sp>
      <p:sp>
        <p:nvSpPr>
          <p:cNvPr id="4" name="Slide Number Placeholder 3"/>
          <p:cNvSpPr>
            <a:spLocks noGrp="1"/>
          </p:cNvSpPr>
          <p:nvPr>
            <p:ph type="sldNum" sz="quarter" idx="5"/>
          </p:nvPr>
        </p:nvSpPr>
        <p:spPr/>
        <p:txBody>
          <a:bodyPr/>
          <a:lstStyle/>
          <a:p>
            <a:fld id="{DBACE3BF-D836-BB46-9E5F-69ED0597BCEF}" type="slidenum">
              <a:rPr lang="en-US" smtClean="0"/>
              <a:t>17</a:t>
            </a:fld>
            <a:endParaRPr lang="en-US"/>
          </a:p>
        </p:txBody>
      </p:sp>
    </p:spTree>
    <p:extLst>
      <p:ext uri="{BB962C8B-B14F-4D97-AF65-F5344CB8AC3E}">
        <p14:creationId xmlns:p14="http://schemas.microsoft.com/office/powerpoint/2010/main" val="21667511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829E2CC-E8E0-8B48-AEE0-8A400ED5F848}" type="datetimeFigureOut">
              <a:rPr lang="en-US" smtClean="0"/>
              <a:t>6/22/25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3017382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829E2CC-E8E0-8B48-AEE0-8A400ED5F848}" type="datetimeFigureOut">
              <a:rPr lang="en-US" smtClean="0"/>
              <a:t>6/22/25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2666994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829E2CC-E8E0-8B48-AEE0-8A400ED5F848}" type="datetimeFigureOut">
              <a:rPr lang="en-US" smtClean="0"/>
              <a:t>6/22/25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1026752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829E2CC-E8E0-8B48-AEE0-8A400ED5F848}" type="datetimeFigureOut">
              <a:rPr lang="en-US" smtClean="0"/>
              <a:t>6/22/25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1935236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829E2CC-E8E0-8B48-AEE0-8A400ED5F848}" type="datetimeFigureOut">
              <a:rPr lang="en-US" smtClean="0"/>
              <a:t>6/22/25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2511187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829E2CC-E8E0-8B48-AEE0-8A400ED5F848}" type="datetimeFigureOut">
              <a:rPr lang="en-US" smtClean="0"/>
              <a:t>6/22/25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3680596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29E2CC-E8E0-8B48-AEE0-8A400ED5F848}" type="datetimeFigureOut">
              <a:rPr lang="en-US" smtClean="0"/>
              <a:t>6/22/25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2718815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829E2CC-E8E0-8B48-AEE0-8A400ED5F848}" type="datetimeFigureOut">
              <a:rPr lang="en-US" smtClean="0"/>
              <a:t>6/22/25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753175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829E2CC-E8E0-8B48-AEE0-8A400ED5F848}" type="datetimeFigureOut">
              <a:rPr lang="en-US" smtClean="0"/>
              <a:t>6/22/25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1015973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829E2CC-E8E0-8B48-AEE0-8A400ED5F848}" type="datetimeFigureOut">
              <a:rPr lang="en-US" smtClean="0"/>
              <a:t>6/22/25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960675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829E2CC-E8E0-8B48-AEE0-8A400ED5F848}" type="datetimeFigureOut">
              <a:rPr lang="en-US" smtClean="0"/>
              <a:t>6/22/25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2134211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829E2CC-E8E0-8B48-AEE0-8A400ED5F848}" type="datetimeFigureOut">
              <a:rPr lang="en-US" smtClean="0"/>
              <a:t>6/22/25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49DB-8B2D-C14B-9B63-4B61FDC5DB74}"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51589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829E2CC-E8E0-8B48-AEE0-8A400ED5F848}" type="datetimeFigureOut">
              <a:rPr lang="en-US" smtClean="0"/>
              <a:t>6/22/25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2959653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7829E2CC-E8E0-8B48-AEE0-8A400ED5F848}" type="datetimeFigureOut">
              <a:rPr lang="en-US" smtClean="0"/>
              <a:t>6/22/25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42233319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7829E2CC-E8E0-8B48-AEE0-8A400ED5F848}" type="datetimeFigureOut">
              <a:rPr lang="en-US" smtClean="0"/>
              <a:t>6/22/25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2849319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829E2CC-E8E0-8B48-AEE0-8A400ED5F848}" type="datetimeFigureOut">
              <a:rPr lang="en-US" smtClean="0"/>
              <a:t>6/22/25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11163839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829E2CC-E8E0-8B48-AEE0-8A400ED5F848}" type="datetimeFigureOut">
              <a:rPr lang="en-US" smtClean="0"/>
              <a:t>6/22/25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49DB-8B2D-C14B-9B63-4B61FDC5DB74}" type="slidenum">
              <a:rPr lang="en-US" smtClean="0"/>
              <a:t>‹#›</a:t>
            </a:fld>
            <a:endParaRPr lang="en-US"/>
          </a:p>
        </p:txBody>
      </p:sp>
    </p:spTree>
    <p:extLst>
      <p:ext uri="{BB962C8B-B14F-4D97-AF65-F5344CB8AC3E}">
        <p14:creationId xmlns:p14="http://schemas.microsoft.com/office/powerpoint/2010/main" val="2678107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829E2CC-E8E0-8B48-AEE0-8A400ED5F848}" type="datetimeFigureOut">
              <a:rPr lang="en-US" smtClean="0"/>
              <a:t>6/22/25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6D649DB-8B2D-C14B-9B63-4B61FDC5DB74}" type="slidenum">
              <a:rPr lang="en-US" smtClean="0"/>
              <a:t>‹#›</a:t>
            </a:fld>
            <a:endParaRPr lang="en-US"/>
          </a:p>
        </p:txBody>
      </p:sp>
    </p:spTree>
    <p:extLst>
      <p:ext uri="{BB962C8B-B14F-4D97-AF65-F5344CB8AC3E}">
        <p14:creationId xmlns:p14="http://schemas.microsoft.com/office/powerpoint/2010/main" val="247335500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ui.adsabs.harvard.edu/abs/2022IJDRR..7903174X/abstract" TargetMode="External"/><Relationship Id="rId2" Type="http://schemas.openxmlformats.org/officeDocument/2006/relationships/hyperlink" Target="https://www.forbes.com/councils/forbestechcouncil/2022/08/09/burnout-is-real-its-time-to-change-the-way-people-work/" TargetMode="External"/><Relationship Id="rId1" Type="http://schemas.openxmlformats.org/officeDocument/2006/relationships/slideLayout" Target="../slideLayouts/slideLayout2.xml"/><Relationship Id="rId4" Type="http://schemas.openxmlformats.org/officeDocument/2006/relationships/hyperlink" Target="https://www.mckinsey.com/industries/healthcare/our-insights/mental-health-in-the-workplace-the-coming-revolution"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waqi786/remote-work-and-mental-health"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929CC-C60D-67F5-0BC9-6735D954D97C}"/>
              </a:ext>
            </a:extLst>
          </p:cNvPr>
          <p:cNvSpPr>
            <a:spLocks noGrp="1"/>
          </p:cNvSpPr>
          <p:nvPr>
            <p:ph type="ctrTitle"/>
          </p:nvPr>
        </p:nvSpPr>
        <p:spPr/>
        <p:txBody>
          <a:bodyPr/>
          <a:lstStyle/>
          <a:p>
            <a:r>
              <a:rPr lang="en-IN" dirty="0"/>
              <a:t>Impact of Remote Work on Mental Health</a:t>
            </a:r>
            <a:endParaRPr lang="en-US" dirty="0"/>
          </a:p>
        </p:txBody>
      </p:sp>
      <p:sp>
        <p:nvSpPr>
          <p:cNvPr id="3" name="Subtitle 2">
            <a:extLst>
              <a:ext uri="{FF2B5EF4-FFF2-40B4-BE49-F238E27FC236}">
                <a16:creationId xmlns:a16="http://schemas.microsoft.com/office/drawing/2014/main" id="{6BE51E70-F7AD-35D5-E8BB-56171102488E}"/>
              </a:ext>
            </a:extLst>
          </p:cNvPr>
          <p:cNvSpPr>
            <a:spLocks noGrp="1"/>
          </p:cNvSpPr>
          <p:nvPr>
            <p:ph type="subTitle" idx="1"/>
          </p:nvPr>
        </p:nvSpPr>
        <p:spPr/>
        <p:txBody>
          <a:bodyPr>
            <a:normAutofit/>
          </a:bodyPr>
          <a:lstStyle/>
          <a:p>
            <a:pPr lvl="0">
              <a:lnSpc>
                <a:spcPct val="100000"/>
              </a:lnSpc>
            </a:pPr>
            <a:r>
              <a:rPr lang="en-IN" b="1" dirty="0"/>
              <a:t>Regis University - MSDS696 - Data Science Practicum II</a:t>
            </a:r>
          </a:p>
          <a:p>
            <a:pPr lvl="0">
              <a:lnSpc>
                <a:spcPct val="100000"/>
              </a:lnSpc>
            </a:pPr>
            <a:r>
              <a:rPr lang="en-IN" b="1" dirty="0"/>
              <a:t>Instructor: John Koenig</a:t>
            </a:r>
            <a:br>
              <a:rPr lang="en-IN" dirty="0"/>
            </a:br>
            <a:r>
              <a:rPr lang="en-IN" b="1" dirty="0"/>
              <a:t>ABHILASH REDDY</a:t>
            </a:r>
            <a:br>
              <a:rPr lang="en-IN" dirty="0"/>
            </a:br>
            <a:r>
              <a:rPr lang="en-IN" b="1" dirty="0"/>
              <a:t>GitHub/Project Link: </a:t>
            </a:r>
            <a:endParaRPr lang="en-US" dirty="0"/>
          </a:p>
        </p:txBody>
      </p:sp>
    </p:spTree>
    <p:extLst>
      <p:ext uri="{BB962C8B-B14F-4D97-AF65-F5344CB8AC3E}">
        <p14:creationId xmlns:p14="http://schemas.microsoft.com/office/powerpoint/2010/main" val="2170170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F65A-EEF7-1386-11D3-3A9FA7132479}"/>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3794BC0A-6943-608A-206E-D68C7CCC87C9}"/>
              </a:ext>
            </a:extLst>
          </p:cNvPr>
          <p:cNvSpPr>
            <a:spLocks noGrp="1"/>
          </p:cNvSpPr>
          <p:nvPr>
            <p:ph idx="1"/>
          </p:nvPr>
        </p:nvSpPr>
        <p:spPr/>
        <p:txBody>
          <a:bodyPr/>
          <a:lstStyle/>
          <a:p>
            <a:r>
              <a:rPr lang="en-IN" dirty="0"/>
              <a:t>Understand mental health impacts of remote work</a:t>
            </a:r>
          </a:p>
          <a:p>
            <a:r>
              <a:rPr lang="en-IN" dirty="0"/>
              <a:t>Use machine learning to predict mental health risks</a:t>
            </a:r>
          </a:p>
          <a:p>
            <a:r>
              <a:rPr lang="en-IN" dirty="0"/>
              <a:t>Build an interactive </a:t>
            </a:r>
            <a:r>
              <a:rPr lang="en-IN" dirty="0" err="1"/>
              <a:t>Streamlit</a:t>
            </a:r>
            <a:r>
              <a:rPr lang="en-IN" dirty="0"/>
              <a:t> tool for predictions</a:t>
            </a:r>
          </a:p>
          <a:p>
            <a:r>
              <a:rPr lang="en-IN" dirty="0"/>
              <a:t>Translate insights into accessible information for users</a:t>
            </a:r>
          </a:p>
          <a:p>
            <a:pPr marL="0" indent="0">
              <a:buNone/>
            </a:pPr>
            <a:endParaRPr lang="en-US" dirty="0"/>
          </a:p>
        </p:txBody>
      </p:sp>
    </p:spTree>
    <p:extLst>
      <p:ext uri="{BB962C8B-B14F-4D97-AF65-F5344CB8AC3E}">
        <p14:creationId xmlns:p14="http://schemas.microsoft.com/office/powerpoint/2010/main" val="2347199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B7CBD-D148-0BC0-3D41-58B058D17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9E168-2BBE-3340-494C-CE10F86BDB84}"/>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82E4D4EC-7D14-7573-6D47-ACA2C633E558}"/>
              </a:ext>
            </a:extLst>
          </p:cNvPr>
          <p:cNvSpPr>
            <a:spLocks noGrp="1"/>
          </p:cNvSpPr>
          <p:nvPr>
            <p:ph idx="1"/>
          </p:nvPr>
        </p:nvSpPr>
        <p:spPr/>
        <p:txBody>
          <a:bodyPr>
            <a:normAutofit lnSpcReduction="10000"/>
          </a:bodyPr>
          <a:lstStyle/>
          <a:p>
            <a:r>
              <a:rPr lang="en-IN" b="1" dirty="0"/>
              <a:t>Post-COVID Work Culture Shift &amp; Mental Health Crisis</a:t>
            </a:r>
            <a:endParaRPr lang="en-IN" dirty="0"/>
          </a:p>
          <a:p>
            <a:pPr lvl="1"/>
            <a:r>
              <a:rPr lang="en-IN" dirty="0"/>
              <a:t>The pandemic led to a dramatic shift to remote work.</a:t>
            </a:r>
          </a:p>
          <a:p>
            <a:pPr lvl="1"/>
            <a:r>
              <a:rPr lang="en-IN" dirty="0"/>
              <a:t>Studies show increased stress, isolation, and burnout among remote workers.</a:t>
            </a:r>
          </a:p>
          <a:p>
            <a:pPr lvl="1"/>
            <a:r>
              <a:rPr lang="en-IN" dirty="0"/>
              <a:t>HR managers struggle to proactively identify mental health issues.</a:t>
            </a:r>
          </a:p>
          <a:p>
            <a:r>
              <a:rPr lang="en-IN" b="1" dirty="0"/>
              <a:t>Key Articles Highlighting the Problem:</a:t>
            </a:r>
            <a:endParaRPr lang="en-IN" dirty="0"/>
          </a:p>
          <a:p>
            <a:pPr lvl="1"/>
            <a:r>
              <a:rPr lang="en-IN" dirty="0">
                <a:hlinkClick r:id="rId2">
                  <a:extLst>
                    <a:ext uri="{A12FA001-AC4F-418D-AE19-62706E023703}">
                      <ahyp:hlinkClr xmlns:ahyp="http://schemas.microsoft.com/office/drawing/2018/hyperlinkcolor" val="tx"/>
                    </a:ext>
                  </a:extLst>
                </a:hlinkClick>
              </a:rPr>
              <a:t>Forbes: “Remote Work Burnout is Real”</a:t>
            </a:r>
            <a:endParaRPr lang="en-IN" dirty="0"/>
          </a:p>
          <a:p>
            <a:pPr lvl="1"/>
            <a:r>
              <a:rPr lang="en-IN" dirty="0">
                <a:hlinkClick r:id="rId3">
                  <a:extLst>
                    <a:ext uri="{A12FA001-AC4F-418D-AE19-62706E023703}">
                      <ahyp:hlinkClr xmlns:ahyp="http://schemas.microsoft.com/office/drawing/2018/hyperlinkcolor" val="tx"/>
                    </a:ext>
                  </a:extLst>
                </a:hlinkClick>
              </a:rPr>
              <a:t>Harvard Business Review: “The Dark Side of Remote Work”</a:t>
            </a:r>
            <a:endParaRPr lang="en-IN" dirty="0"/>
          </a:p>
          <a:p>
            <a:pPr lvl="1"/>
            <a:r>
              <a:rPr lang="en-IN" dirty="0">
                <a:hlinkClick r:id="rId4">
                  <a:extLst>
                    <a:ext uri="{A12FA001-AC4F-418D-AE19-62706E023703}">
                      <ahyp:hlinkClr xmlns:ahyp="http://schemas.microsoft.com/office/drawing/2018/hyperlinkcolor" val="tx"/>
                    </a:ext>
                  </a:extLst>
                </a:hlinkClick>
              </a:rPr>
              <a:t>McKinsey: “Mental Health in the Workplace”</a:t>
            </a:r>
            <a:endParaRPr lang="en-IN" dirty="0"/>
          </a:p>
        </p:txBody>
      </p:sp>
    </p:spTree>
    <p:extLst>
      <p:ext uri="{BB962C8B-B14F-4D97-AF65-F5344CB8AC3E}">
        <p14:creationId xmlns:p14="http://schemas.microsoft.com/office/powerpoint/2010/main" val="3299197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C4792-39DC-9691-7F3F-0277FB9C9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A3397-12A3-984C-958A-EE0D19FF3F3D}"/>
              </a:ext>
            </a:extLst>
          </p:cNvPr>
          <p:cNvSpPr>
            <a:spLocks noGrp="1"/>
          </p:cNvSpPr>
          <p:nvPr>
            <p:ph type="title"/>
          </p:nvPr>
        </p:nvSpPr>
        <p:spPr/>
        <p:txBody>
          <a:bodyPr/>
          <a:lstStyle/>
          <a:p>
            <a:r>
              <a:rPr lang="en-US" dirty="0"/>
              <a:t>Data description</a:t>
            </a:r>
          </a:p>
        </p:txBody>
      </p:sp>
      <p:sp>
        <p:nvSpPr>
          <p:cNvPr id="3" name="Content Placeholder 2">
            <a:extLst>
              <a:ext uri="{FF2B5EF4-FFF2-40B4-BE49-F238E27FC236}">
                <a16:creationId xmlns:a16="http://schemas.microsoft.com/office/drawing/2014/main" id="{CE8405E4-CD2B-F8BD-C0EB-2EE68578B455}"/>
              </a:ext>
            </a:extLst>
          </p:cNvPr>
          <p:cNvSpPr>
            <a:spLocks noGrp="1"/>
          </p:cNvSpPr>
          <p:nvPr>
            <p:ph idx="1"/>
          </p:nvPr>
        </p:nvSpPr>
        <p:spPr/>
        <p:txBody>
          <a:bodyPr/>
          <a:lstStyle/>
          <a:p>
            <a:r>
              <a:rPr lang="en-IN" b="1" dirty="0"/>
              <a:t>Dataset:</a:t>
            </a:r>
            <a:endParaRPr lang="en-IN" dirty="0"/>
          </a:p>
          <a:p>
            <a:pPr lvl="1"/>
            <a:r>
              <a:rPr lang="en-IN" dirty="0"/>
              <a:t>Source: </a:t>
            </a:r>
            <a:r>
              <a:rPr lang="en-IN" dirty="0">
                <a:hlinkClick r:id="rId3">
                  <a:extLst>
                    <a:ext uri="{A12FA001-AC4F-418D-AE19-62706E023703}">
                      <ahyp:hlinkClr xmlns:ahyp="http://schemas.microsoft.com/office/drawing/2018/hyperlinkcolor" val="tx"/>
                    </a:ext>
                  </a:extLst>
                </a:hlinkClick>
              </a:rPr>
              <a:t>Kaggle – Remote Work and Mental Health</a:t>
            </a:r>
            <a:endParaRPr lang="en-IN" dirty="0"/>
          </a:p>
          <a:p>
            <a:pPr lvl="1"/>
            <a:r>
              <a:rPr lang="en-IN" dirty="0"/>
              <a:t>Format: Tabular CSV</a:t>
            </a:r>
          </a:p>
          <a:p>
            <a:pPr lvl="1"/>
            <a:r>
              <a:rPr lang="en-IN" dirty="0"/>
              <a:t>Number of records: ~1000+ employee responses</a:t>
            </a:r>
          </a:p>
          <a:p>
            <a:pPr lvl="1"/>
            <a:r>
              <a:rPr lang="en-IN" dirty="0"/>
              <a:t>Type: Survey data collected post-COVID from remote/hybrid/onsite employees</a:t>
            </a:r>
          </a:p>
          <a:p>
            <a:pPr marL="596900" lvl="1" indent="0">
              <a:buNone/>
            </a:pPr>
            <a:endParaRPr lang="en-IN" dirty="0"/>
          </a:p>
          <a:p>
            <a:endParaRPr lang="en-US" dirty="0"/>
          </a:p>
        </p:txBody>
      </p:sp>
    </p:spTree>
    <p:extLst>
      <p:ext uri="{BB962C8B-B14F-4D97-AF65-F5344CB8AC3E}">
        <p14:creationId xmlns:p14="http://schemas.microsoft.com/office/powerpoint/2010/main" val="1783226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5391F-CB12-3521-D1E6-775D4AE8C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D6589-626D-D503-7856-54813576D123}"/>
              </a:ext>
            </a:extLst>
          </p:cNvPr>
          <p:cNvSpPr>
            <a:spLocks noGrp="1"/>
          </p:cNvSpPr>
          <p:nvPr>
            <p:ph type="title"/>
          </p:nvPr>
        </p:nvSpPr>
        <p:spPr/>
        <p:txBody>
          <a:bodyPr/>
          <a:lstStyle/>
          <a:p>
            <a:r>
              <a:rPr lang="en-US" dirty="0"/>
              <a:t>EDA and key insights</a:t>
            </a:r>
          </a:p>
        </p:txBody>
      </p:sp>
      <p:sp>
        <p:nvSpPr>
          <p:cNvPr id="3" name="Content Placeholder 2">
            <a:extLst>
              <a:ext uri="{FF2B5EF4-FFF2-40B4-BE49-F238E27FC236}">
                <a16:creationId xmlns:a16="http://schemas.microsoft.com/office/drawing/2014/main" id="{D07AB1AC-0F3C-B2B7-76F5-66E815B7406F}"/>
              </a:ext>
            </a:extLst>
          </p:cNvPr>
          <p:cNvSpPr>
            <a:spLocks noGrp="1"/>
          </p:cNvSpPr>
          <p:nvPr>
            <p:ph idx="1"/>
          </p:nvPr>
        </p:nvSpPr>
        <p:spPr>
          <a:xfrm>
            <a:off x="1141412" y="2249486"/>
            <a:ext cx="9905999" cy="4608513"/>
          </a:xfrm>
        </p:spPr>
        <p:txBody>
          <a:bodyPr>
            <a:normAutofit fontScale="92500" lnSpcReduction="10000"/>
          </a:bodyPr>
          <a:lstStyle/>
          <a:p>
            <a:r>
              <a:rPr lang="en-IN" dirty="0"/>
              <a:t>Positive correlation between poor company support and mental health issues</a:t>
            </a:r>
          </a:p>
          <a:p>
            <a:r>
              <a:rPr lang="en-IN" dirty="0"/>
              <a:t>Flexible work hours linked with reduced mental health risks</a:t>
            </a:r>
          </a:p>
          <a:p>
            <a:r>
              <a:rPr lang="en-IN" dirty="0"/>
              <a:t>Family history of mental health plays a significant role</a:t>
            </a:r>
          </a:p>
          <a:p>
            <a:r>
              <a:rPr lang="en-IN" dirty="0"/>
              <a:t>Feature Engineering:</a:t>
            </a:r>
          </a:p>
          <a:p>
            <a:pPr lvl="1"/>
            <a:r>
              <a:rPr lang="en-IN" dirty="0"/>
              <a:t>Converted categorical variables like Gender, </a:t>
            </a:r>
            <a:r>
              <a:rPr lang="en-IN" dirty="0" err="1"/>
              <a:t>Family_History</a:t>
            </a:r>
            <a:r>
              <a:rPr lang="en-IN" dirty="0"/>
              <a:t>, </a:t>
            </a:r>
            <a:r>
              <a:rPr lang="en-IN" dirty="0" err="1"/>
              <a:t>Work_Environment_Satisfaction</a:t>
            </a:r>
            <a:r>
              <a:rPr lang="en-IN" dirty="0"/>
              <a:t> into numerical form using Label Encoding</a:t>
            </a:r>
          </a:p>
          <a:p>
            <a:pPr lvl="1"/>
            <a:r>
              <a:rPr lang="en-IN" dirty="0"/>
              <a:t>Created new binary columns for Yes/No responses to capture stress-related conditions</a:t>
            </a:r>
          </a:p>
          <a:p>
            <a:pPr lvl="1"/>
            <a:r>
              <a:rPr lang="en-IN" dirty="0"/>
              <a:t>Normalized continuous features such as Age for consistent model input</a:t>
            </a:r>
          </a:p>
          <a:p>
            <a:pPr lvl="1"/>
            <a:r>
              <a:rPr lang="en-IN" dirty="0"/>
              <a:t>Target variable </a:t>
            </a:r>
            <a:r>
              <a:rPr lang="en-IN" dirty="0" err="1"/>
              <a:t>Stress_Level</a:t>
            </a:r>
            <a:r>
              <a:rPr lang="en-IN" dirty="0"/>
              <a:t> derived and encoded as ordinal values representing risk levels (Low, Medium, High)</a:t>
            </a:r>
          </a:p>
          <a:p>
            <a:r>
              <a:rPr lang="en-IN" dirty="0"/>
              <a:t>Visualization tools: Seaborn and Matplotlib</a:t>
            </a:r>
          </a:p>
        </p:txBody>
      </p:sp>
    </p:spTree>
    <p:extLst>
      <p:ext uri="{BB962C8B-B14F-4D97-AF65-F5344CB8AC3E}">
        <p14:creationId xmlns:p14="http://schemas.microsoft.com/office/powerpoint/2010/main" val="248691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B3E0A1-7BF1-2D9C-290A-3A70377D8A8B}"/>
            </a:ext>
          </a:extLst>
        </p:cNvPr>
        <p:cNvGrpSpPr/>
        <p:nvPr/>
      </p:nvGrpSpPr>
      <p:grpSpPr>
        <a:xfrm>
          <a:off x="0" y="0"/>
          <a:ext cx="0" cy="0"/>
          <a:chOff x="0" y="0"/>
          <a:chExt cx="0" cy="0"/>
        </a:xfrm>
      </p:grpSpPr>
      <p:pic>
        <p:nvPicPr>
          <p:cNvPr id="127"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29" name="Group 128">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31"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32"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3"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4"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35"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6"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7"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8"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9"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0"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1"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2"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3"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4"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5"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6"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7"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8"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9"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0"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1"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2"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3"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4"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5"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6"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7"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8"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9"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60"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1"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2"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3"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4"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5"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6"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7"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8"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9"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0"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1"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72"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3"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4"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5"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6"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7"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8"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9"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0"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1"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2"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3"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4"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185" name="Rectangle 184">
            <a:extLst>
              <a:ext uri="{FF2B5EF4-FFF2-40B4-BE49-F238E27FC236}">
                <a16:creationId xmlns:a16="http://schemas.microsoft.com/office/drawing/2014/main" id="{D706AE2E-B17B-43A3-84F8-9C0FE946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2003"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CEFFB8CF-3E94-42D7-849C-841E7744B2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73" name="Rectangle 5">
              <a:extLst>
                <a:ext uri="{FF2B5EF4-FFF2-40B4-BE49-F238E27FC236}">
                  <a16:creationId xmlns:a16="http://schemas.microsoft.com/office/drawing/2014/main" id="{C274DE9A-4502-4454-911E-B7FE9ED6DE3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4" name="Freeform 6">
              <a:extLst>
                <a:ext uri="{FF2B5EF4-FFF2-40B4-BE49-F238E27FC236}">
                  <a16:creationId xmlns:a16="http://schemas.microsoft.com/office/drawing/2014/main" id="{76AFCF59-7BED-416B-ACD9-EA099C9B29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Freeform 7">
              <a:extLst>
                <a:ext uri="{FF2B5EF4-FFF2-40B4-BE49-F238E27FC236}">
                  <a16:creationId xmlns:a16="http://schemas.microsoft.com/office/drawing/2014/main" id="{8EEECEBC-B149-42E5-8164-EE5456F06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Rectangle 8">
              <a:extLst>
                <a:ext uri="{FF2B5EF4-FFF2-40B4-BE49-F238E27FC236}">
                  <a16:creationId xmlns:a16="http://schemas.microsoft.com/office/drawing/2014/main" id="{03B49256-D2D8-436B-8F29-0C7E53366F1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7" name="Freeform 9">
              <a:extLst>
                <a:ext uri="{FF2B5EF4-FFF2-40B4-BE49-F238E27FC236}">
                  <a16:creationId xmlns:a16="http://schemas.microsoft.com/office/drawing/2014/main" id="{4045E56F-B537-408E-B346-B9B15C39A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10">
              <a:extLst>
                <a:ext uri="{FF2B5EF4-FFF2-40B4-BE49-F238E27FC236}">
                  <a16:creationId xmlns:a16="http://schemas.microsoft.com/office/drawing/2014/main" id="{904BDB2F-0893-4AD7-A871-C808C9651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11">
              <a:extLst>
                <a:ext uri="{FF2B5EF4-FFF2-40B4-BE49-F238E27FC236}">
                  <a16:creationId xmlns:a16="http://schemas.microsoft.com/office/drawing/2014/main" id="{512D8C6F-C154-4928-9891-DDCF50DA6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12">
              <a:extLst>
                <a:ext uri="{FF2B5EF4-FFF2-40B4-BE49-F238E27FC236}">
                  <a16:creationId xmlns:a16="http://schemas.microsoft.com/office/drawing/2014/main" id="{7E2BBA63-D694-4AD5-976F-4F1CDB204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13">
              <a:extLst>
                <a:ext uri="{FF2B5EF4-FFF2-40B4-BE49-F238E27FC236}">
                  <a16:creationId xmlns:a16="http://schemas.microsoft.com/office/drawing/2014/main" id="{394F9847-4F95-42E8-AE7E-8DD8A0E2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14">
              <a:extLst>
                <a:ext uri="{FF2B5EF4-FFF2-40B4-BE49-F238E27FC236}">
                  <a16:creationId xmlns:a16="http://schemas.microsoft.com/office/drawing/2014/main" id="{48CE4CA3-085D-44AC-996B-9F347B7BC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15">
              <a:extLst>
                <a:ext uri="{FF2B5EF4-FFF2-40B4-BE49-F238E27FC236}">
                  <a16:creationId xmlns:a16="http://schemas.microsoft.com/office/drawing/2014/main" id="{0D7459AE-7E00-4707-B574-1D3636BB46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16">
              <a:extLst>
                <a:ext uri="{FF2B5EF4-FFF2-40B4-BE49-F238E27FC236}">
                  <a16:creationId xmlns:a16="http://schemas.microsoft.com/office/drawing/2014/main" id="{EF95E020-0C4A-4BD5-84BE-6DF8B8BCAB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17">
              <a:extLst>
                <a:ext uri="{FF2B5EF4-FFF2-40B4-BE49-F238E27FC236}">
                  <a16:creationId xmlns:a16="http://schemas.microsoft.com/office/drawing/2014/main" id="{18CC4862-B9BB-4E63-9630-AA5241E68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18">
              <a:extLst>
                <a:ext uri="{FF2B5EF4-FFF2-40B4-BE49-F238E27FC236}">
                  <a16:creationId xmlns:a16="http://schemas.microsoft.com/office/drawing/2014/main" id="{156A0508-DDAB-4BFB-824D-CA9D3D833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19">
              <a:extLst>
                <a:ext uri="{FF2B5EF4-FFF2-40B4-BE49-F238E27FC236}">
                  <a16:creationId xmlns:a16="http://schemas.microsoft.com/office/drawing/2014/main" id="{E3B0103B-60DE-4385-B84E-53694FB9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20">
              <a:extLst>
                <a:ext uri="{FF2B5EF4-FFF2-40B4-BE49-F238E27FC236}">
                  <a16:creationId xmlns:a16="http://schemas.microsoft.com/office/drawing/2014/main" id="{C8C1C0D4-C36E-4251-A97F-436AFA3797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Freeform 21">
              <a:extLst>
                <a:ext uri="{FF2B5EF4-FFF2-40B4-BE49-F238E27FC236}">
                  <a16:creationId xmlns:a16="http://schemas.microsoft.com/office/drawing/2014/main" id="{550D7341-7849-4B72-A2D7-68B7161D43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0" name="Freeform 22">
              <a:extLst>
                <a:ext uri="{FF2B5EF4-FFF2-40B4-BE49-F238E27FC236}">
                  <a16:creationId xmlns:a16="http://schemas.microsoft.com/office/drawing/2014/main" id="{C9E742C7-3FF2-4931-B087-46AAA6C33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23">
              <a:extLst>
                <a:ext uri="{FF2B5EF4-FFF2-40B4-BE49-F238E27FC236}">
                  <a16:creationId xmlns:a16="http://schemas.microsoft.com/office/drawing/2014/main" id="{424AF1DB-9264-4B94-9F0D-EF37F12D4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24">
              <a:extLst>
                <a:ext uri="{FF2B5EF4-FFF2-40B4-BE49-F238E27FC236}">
                  <a16:creationId xmlns:a16="http://schemas.microsoft.com/office/drawing/2014/main" id="{766E43D2-CF93-4468-9B12-FFB234513D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25">
              <a:extLst>
                <a:ext uri="{FF2B5EF4-FFF2-40B4-BE49-F238E27FC236}">
                  <a16:creationId xmlns:a16="http://schemas.microsoft.com/office/drawing/2014/main" id="{AC24EC38-E0E5-4A4E-A64D-359DD4A55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26">
              <a:extLst>
                <a:ext uri="{FF2B5EF4-FFF2-40B4-BE49-F238E27FC236}">
                  <a16:creationId xmlns:a16="http://schemas.microsoft.com/office/drawing/2014/main" id="{338D8FE1-6073-44CF-857C-9273A16075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5" name="Freeform 27">
              <a:extLst>
                <a:ext uri="{FF2B5EF4-FFF2-40B4-BE49-F238E27FC236}">
                  <a16:creationId xmlns:a16="http://schemas.microsoft.com/office/drawing/2014/main" id="{39BAF819-1ABF-4754-B2E6-8C023A3B9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6" name="Freeform 28">
              <a:extLst>
                <a:ext uri="{FF2B5EF4-FFF2-40B4-BE49-F238E27FC236}">
                  <a16:creationId xmlns:a16="http://schemas.microsoft.com/office/drawing/2014/main" id="{2B5FE77A-C8CA-4E0E-BA89-53BA982E6A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7" name="Freeform 29">
              <a:extLst>
                <a:ext uri="{FF2B5EF4-FFF2-40B4-BE49-F238E27FC236}">
                  <a16:creationId xmlns:a16="http://schemas.microsoft.com/office/drawing/2014/main" id="{264169FF-BB01-4F56-812A-738BE4AAC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30">
              <a:extLst>
                <a:ext uri="{FF2B5EF4-FFF2-40B4-BE49-F238E27FC236}">
                  <a16:creationId xmlns:a16="http://schemas.microsoft.com/office/drawing/2014/main" id="{831BA8DD-49DA-443B-AD7A-1680CD2875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31">
              <a:extLst>
                <a:ext uri="{FF2B5EF4-FFF2-40B4-BE49-F238E27FC236}">
                  <a16:creationId xmlns:a16="http://schemas.microsoft.com/office/drawing/2014/main" id="{15B5FD47-B408-4DD0-BA9C-76C3F6814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Freeform 32">
              <a:extLst>
                <a:ext uri="{FF2B5EF4-FFF2-40B4-BE49-F238E27FC236}">
                  <a16:creationId xmlns:a16="http://schemas.microsoft.com/office/drawing/2014/main" id="{2432FB6B-FBB2-438F-A3BC-0392CA944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1" name="Rectangle 33">
              <a:extLst>
                <a:ext uri="{FF2B5EF4-FFF2-40B4-BE49-F238E27FC236}">
                  <a16:creationId xmlns:a16="http://schemas.microsoft.com/office/drawing/2014/main" id="{A9E1CA69-4810-4E1D-A227-EA4EF0151F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02" name="Freeform 34">
              <a:extLst>
                <a:ext uri="{FF2B5EF4-FFF2-40B4-BE49-F238E27FC236}">
                  <a16:creationId xmlns:a16="http://schemas.microsoft.com/office/drawing/2014/main" id="{978653C5-EFDF-4617-9A6A-E810A9C22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3" name="Freeform 35">
              <a:extLst>
                <a:ext uri="{FF2B5EF4-FFF2-40B4-BE49-F238E27FC236}">
                  <a16:creationId xmlns:a16="http://schemas.microsoft.com/office/drawing/2014/main" id="{F1B9F231-1E6A-4122-81B0-043E2A5F5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36">
              <a:extLst>
                <a:ext uri="{FF2B5EF4-FFF2-40B4-BE49-F238E27FC236}">
                  <a16:creationId xmlns:a16="http://schemas.microsoft.com/office/drawing/2014/main" id="{DF2B6BD0-0057-43BC-8681-9FAC9FC53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37">
              <a:extLst>
                <a:ext uri="{FF2B5EF4-FFF2-40B4-BE49-F238E27FC236}">
                  <a16:creationId xmlns:a16="http://schemas.microsoft.com/office/drawing/2014/main" id="{6D7D7117-2276-4EB9-882B-A44A2DB066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38">
              <a:extLst>
                <a:ext uri="{FF2B5EF4-FFF2-40B4-BE49-F238E27FC236}">
                  <a16:creationId xmlns:a16="http://schemas.microsoft.com/office/drawing/2014/main" id="{98AD68EB-6444-4B28-8F06-C0B6111A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Freeform 39">
              <a:extLst>
                <a:ext uri="{FF2B5EF4-FFF2-40B4-BE49-F238E27FC236}">
                  <a16:creationId xmlns:a16="http://schemas.microsoft.com/office/drawing/2014/main" id="{438FA125-C459-48A2-913F-F5D04E160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8" name="Freeform 40">
              <a:extLst>
                <a:ext uri="{FF2B5EF4-FFF2-40B4-BE49-F238E27FC236}">
                  <a16:creationId xmlns:a16="http://schemas.microsoft.com/office/drawing/2014/main" id="{18E796D1-6480-436F-947D-550CCE516E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9" name="Freeform 41">
              <a:extLst>
                <a:ext uri="{FF2B5EF4-FFF2-40B4-BE49-F238E27FC236}">
                  <a16:creationId xmlns:a16="http://schemas.microsoft.com/office/drawing/2014/main" id="{4549B300-4F89-4E35-B5E7-53E3C6A5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42">
              <a:extLst>
                <a:ext uri="{FF2B5EF4-FFF2-40B4-BE49-F238E27FC236}">
                  <a16:creationId xmlns:a16="http://schemas.microsoft.com/office/drawing/2014/main" id="{D8DA6C40-62DD-4FB3-8D06-5A599E3823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43">
              <a:extLst>
                <a:ext uri="{FF2B5EF4-FFF2-40B4-BE49-F238E27FC236}">
                  <a16:creationId xmlns:a16="http://schemas.microsoft.com/office/drawing/2014/main" id="{28EE2B35-9D3D-4925-8DA9-9DF0E40BC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Freeform 44">
              <a:extLst>
                <a:ext uri="{FF2B5EF4-FFF2-40B4-BE49-F238E27FC236}">
                  <a16:creationId xmlns:a16="http://schemas.microsoft.com/office/drawing/2014/main" id="{9DB82611-4043-4758-81EC-2239619803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3" name="Rectangle 45">
              <a:extLst>
                <a:ext uri="{FF2B5EF4-FFF2-40B4-BE49-F238E27FC236}">
                  <a16:creationId xmlns:a16="http://schemas.microsoft.com/office/drawing/2014/main" id="{A8210AB3-0776-4F74-9227-5E448D1AFA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14" name="Freeform 46">
              <a:extLst>
                <a:ext uri="{FF2B5EF4-FFF2-40B4-BE49-F238E27FC236}">
                  <a16:creationId xmlns:a16="http://schemas.microsoft.com/office/drawing/2014/main" id="{002C10AB-E300-481E-AFA5-410481B1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5" name="Freeform 47">
              <a:extLst>
                <a:ext uri="{FF2B5EF4-FFF2-40B4-BE49-F238E27FC236}">
                  <a16:creationId xmlns:a16="http://schemas.microsoft.com/office/drawing/2014/main" id="{11F47C5E-0453-4EF5-B969-A8263DC6AF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6" name="Freeform 48">
              <a:extLst>
                <a:ext uri="{FF2B5EF4-FFF2-40B4-BE49-F238E27FC236}">
                  <a16:creationId xmlns:a16="http://schemas.microsoft.com/office/drawing/2014/main" id="{D0CFDC87-55E8-40E1-BD98-4E1EA2C09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7" name="Freeform 49">
              <a:extLst>
                <a:ext uri="{FF2B5EF4-FFF2-40B4-BE49-F238E27FC236}">
                  <a16:creationId xmlns:a16="http://schemas.microsoft.com/office/drawing/2014/main" id="{C1151505-8A7F-41D8-AE03-AD172E38C0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8" name="Freeform 50">
              <a:extLst>
                <a:ext uri="{FF2B5EF4-FFF2-40B4-BE49-F238E27FC236}">
                  <a16:creationId xmlns:a16="http://schemas.microsoft.com/office/drawing/2014/main" id="{918DAD20-1F9F-41A7-B9D0-EE92F9B32D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9" name="Freeform 51">
              <a:extLst>
                <a:ext uri="{FF2B5EF4-FFF2-40B4-BE49-F238E27FC236}">
                  <a16:creationId xmlns:a16="http://schemas.microsoft.com/office/drawing/2014/main" id="{D303B51B-ADCC-43C9-AE4F-0168CFA63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0" name="Freeform 52">
              <a:extLst>
                <a:ext uri="{FF2B5EF4-FFF2-40B4-BE49-F238E27FC236}">
                  <a16:creationId xmlns:a16="http://schemas.microsoft.com/office/drawing/2014/main" id="{5621B409-0B0A-4827-81F9-684C335EE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1" name="Freeform 53">
              <a:extLst>
                <a:ext uri="{FF2B5EF4-FFF2-40B4-BE49-F238E27FC236}">
                  <a16:creationId xmlns:a16="http://schemas.microsoft.com/office/drawing/2014/main" id="{FCA6910E-A4EC-464B-B285-5F1E40AEF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2" name="Freeform 54">
              <a:extLst>
                <a:ext uri="{FF2B5EF4-FFF2-40B4-BE49-F238E27FC236}">
                  <a16:creationId xmlns:a16="http://schemas.microsoft.com/office/drawing/2014/main" id="{7D0C75DF-4953-4E72-B34A-2F8BD0523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3" name="Freeform 55">
              <a:extLst>
                <a:ext uri="{FF2B5EF4-FFF2-40B4-BE49-F238E27FC236}">
                  <a16:creationId xmlns:a16="http://schemas.microsoft.com/office/drawing/2014/main" id="{998A65EA-C434-41FF-B792-2BDC1150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4" name="Freeform 56">
              <a:extLst>
                <a:ext uri="{FF2B5EF4-FFF2-40B4-BE49-F238E27FC236}">
                  <a16:creationId xmlns:a16="http://schemas.microsoft.com/office/drawing/2014/main" id="{3A6D2AE4-7ABD-4946-BE69-5FD3C1A1D6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5" name="Freeform 57">
              <a:extLst>
                <a:ext uri="{FF2B5EF4-FFF2-40B4-BE49-F238E27FC236}">
                  <a16:creationId xmlns:a16="http://schemas.microsoft.com/office/drawing/2014/main" id="{833A81DC-8A3A-4141-A713-A2FE1C572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6" name="Freeform 58">
              <a:extLst>
                <a:ext uri="{FF2B5EF4-FFF2-40B4-BE49-F238E27FC236}">
                  <a16:creationId xmlns:a16="http://schemas.microsoft.com/office/drawing/2014/main" id="{47BB7FFD-57DB-41BD-8D42-9FB58174B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128" name="Picture 2">
            <a:extLst>
              <a:ext uri="{FF2B5EF4-FFF2-40B4-BE49-F238E27FC236}">
                <a16:creationId xmlns:a16="http://schemas.microsoft.com/office/drawing/2014/main" id="{3631D3C9-4C1D-4B3A-A737-E6E7800424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D67E9BF-8D21-22E3-7BCA-354A53D6F27A}"/>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kumimoji="0" lang="en-US" b="0" i="0" u="none" strike="noStrike" kern="1200" cap="all" spc="0" normalizeH="0" baseline="0" noProof="0" dirty="0">
                <a:ln>
                  <a:noFill/>
                </a:ln>
                <a:solidFill>
                  <a:prstClr val="white"/>
                </a:solidFill>
                <a:effectLst/>
                <a:uLnTx/>
                <a:uFillTx/>
                <a:latin typeface="Tw Cen MT" panose="020B0602020104020603"/>
                <a:ea typeface="+mj-ea"/>
                <a:cs typeface="+mj-cs"/>
              </a:rPr>
              <a:t>EDA and key insights</a:t>
            </a:r>
            <a:r>
              <a:rPr lang="en-US" dirty="0">
                <a:solidFill>
                  <a:srgbClr val="FFFFFF"/>
                </a:solidFill>
              </a:rPr>
              <a:t> - features</a:t>
            </a:r>
          </a:p>
        </p:txBody>
      </p:sp>
      <p:sp useBgFill="1">
        <p:nvSpPr>
          <p:cNvPr id="130" name="Round Diagonal Corner Rectangle 6">
            <a:extLst>
              <a:ext uri="{FF2B5EF4-FFF2-40B4-BE49-F238E27FC236}">
                <a16:creationId xmlns:a16="http://schemas.microsoft.com/office/drawing/2014/main" id="{5B986EF0-8540-483D-9DDE-1F168FAAC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90985A1-C978-35D5-E44C-B420CDD765A1}"/>
              </a:ext>
            </a:extLst>
          </p:cNvPr>
          <p:cNvPicPr>
            <a:picLocks noChangeAspect="1"/>
          </p:cNvPicPr>
          <p:nvPr/>
        </p:nvPicPr>
        <p:blipFill>
          <a:blip r:embed="rId4"/>
          <a:stretch>
            <a:fillRect/>
          </a:stretch>
        </p:blipFill>
        <p:spPr>
          <a:xfrm>
            <a:off x="1482651" y="1136606"/>
            <a:ext cx="5385056" cy="4577297"/>
          </a:xfrm>
          <a:prstGeom prst="rect">
            <a:avLst/>
          </a:prstGeom>
        </p:spPr>
      </p:pic>
    </p:spTree>
    <p:extLst>
      <p:ext uri="{BB962C8B-B14F-4D97-AF65-F5344CB8AC3E}">
        <p14:creationId xmlns:p14="http://schemas.microsoft.com/office/powerpoint/2010/main" val="397838622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D1CFCD-C741-11F7-FC7E-21726F8C5D29}"/>
            </a:ext>
          </a:extLst>
        </p:cNvPr>
        <p:cNvGrpSpPr/>
        <p:nvPr/>
      </p:nvGrpSpPr>
      <p:grpSpPr>
        <a:xfrm>
          <a:off x="0" y="0"/>
          <a:ext cx="0" cy="0"/>
          <a:chOff x="0" y="0"/>
          <a:chExt cx="0" cy="0"/>
        </a:xfrm>
      </p:grpSpPr>
      <p:pic>
        <p:nvPicPr>
          <p:cNvPr id="264"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265" name="Group 264">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266"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7"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8"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9"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70"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1"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2"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3"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4"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5"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6"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7"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8"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9"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0"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1"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2"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3"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4"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5"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6"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7"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8"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9"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0"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1"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2"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3"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4"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95"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6"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7"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8"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9"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0"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1"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2"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3"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4"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5"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6"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07"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8"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9"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0"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1"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2"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3"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4"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5"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6"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7"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8"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9"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320" name="Rectangle 319">
            <a:extLst>
              <a:ext uri="{FF2B5EF4-FFF2-40B4-BE49-F238E27FC236}">
                <a16:creationId xmlns:a16="http://schemas.microsoft.com/office/drawing/2014/main" id="{D706AE2E-B17B-43A3-84F8-9C0FE946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2003"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68" name="Group 67">
            <a:extLst>
              <a:ext uri="{FF2B5EF4-FFF2-40B4-BE49-F238E27FC236}">
                <a16:creationId xmlns:a16="http://schemas.microsoft.com/office/drawing/2014/main" id="{CEFFB8CF-3E94-42D7-849C-841E7744B2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69" name="Rectangle 5">
              <a:extLst>
                <a:ext uri="{FF2B5EF4-FFF2-40B4-BE49-F238E27FC236}">
                  <a16:creationId xmlns:a16="http://schemas.microsoft.com/office/drawing/2014/main" id="{C274DE9A-4502-4454-911E-B7FE9ED6DE3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21" name="Freeform 6">
              <a:extLst>
                <a:ext uri="{FF2B5EF4-FFF2-40B4-BE49-F238E27FC236}">
                  <a16:creationId xmlns:a16="http://schemas.microsoft.com/office/drawing/2014/main" id="{76AFCF59-7BED-416B-ACD9-EA099C9B29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2" name="Freeform 7">
              <a:extLst>
                <a:ext uri="{FF2B5EF4-FFF2-40B4-BE49-F238E27FC236}">
                  <a16:creationId xmlns:a16="http://schemas.microsoft.com/office/drawing/2014/main" id="{8EEECEBC-B149-42E5-8164-EE5456F06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3" name="Rectangle 8">
              <a:extLst>
                <a:ext uri="{FF2B5EF4-FFF2-40B4-BE49-F238E27FC236}">
                  <a16:creationId xmlns:a16="http://schemas.microsoft.com/office/drawing/2014/main" id="{03B49256-D2D8-436B-8F29-0C7E53366F1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24" name="Freeform 9">
              <a:extLst>
                <a:ext uri="{FF2B5EF4-FFF2-40B4-BE49-F238E27FC236}">
                  <a16:creationId xmlns:a16="http://schemas.microsoft.com/office/drawing/2014/main" id="{4045E56F-B537-408E-B346-B9B15C39A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5" name="Freeform 10">
              <a:extLst>
                <a:ext uri="{FF2B5EF4-FFF2-40B4-BE49-F238E27FC236}">
                  <a16:creationId xmlns:a16="http://schemas.microsoft.com/office/drawing/2014/main" id="{904BDB2F-0893-4AD7-A871-C808C9651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6" name="Freeform 11">
              <a:extLst>
                <a:ext uri="{FF2B5EF4-FFF2-40B4-BE49-F238E27FC236}">
                  <a16:creationId xmlns:a16="http://schemas.microsoft.com/office/drawing/2014/main" id="{512D8C6F-C154-4928-9891-DDCF50DA6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7" name="Freeform 12">
              <a:extLst>
                <a:ext uri="{FF2B5EF4-FFF2-40B4-BE49-F238E27FC236}">
                  <a16:creationId xmlns:a16="http://schemas.microsoft.com/office/drawing/2014/main" id="{7E2BBA63-D694-4AD5-976F-4F1CDB204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8" name="Freeform 13">
              <a:extLst>
                <a:ext uri="{FF2B5EF4-FFF2-40B4-BE49-F238E27FC236}">
                  <a16:creationId xmlns:a16="http://schemas.microsoft.com/office/drawing/2014/main" id="{394F9847-4F95-42E8-AE7E-8DD8A0E2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9" name="Freeform 14">
              <a:extLst>
                <a:ext uri="{FF2B5EF4-FFF2-40B4-BE49-F238E27FC236}">
                  <a16:creationId xmlns:a16="http://schemas.microsoft.com/office/drawing/2014/main" id="{48CE4CA3-085D-44AC-996B-9F347B7BC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0" name="Freeform 15">
              <a:extLst>
                <a:ext uri="{FF2B5EF4-FFF2-40B4-BE49-F238E27FC236}">
                  <a16:creationId xmlns:a16="http://schemas.microsoft.com/office/drawing/2014/main" id="{0D7459AE-7E00-4707-B574-1D3636BB46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1" name="Freeform 16">
              <a:extLst>
                <a:ext uri="{FF2B5EF4-FFF2-40B4-BE49-F238E27FC236}">
                  <a16:creationId xmlns:a16="http://schemas.microsoft.com/office/drawing/2014/main" id="{EF95E020-0C4A-4BD5-84BE-6DF8B8BCAB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2" name="Freeform 17">
              <a:extLst>
                <a:ext uri="{FF2B5EF4-FFF2-40B4-BE49-F238E27FC236}">
                  <a16:creationId xmlns:a16="http://schemas.microsoft.com/office/drawing/2014/main" id="{18CC4862-B9BB-4E63-9630-AA5241E68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3" name="Freeform 18">
              <a:extLst>
                <a:ext uri="{FF2B5EF4-FFF2-40B4-BE49-F238E27FC236}">
                  <a16:creationId xmlns:a16="http://schemas.microsoft.com/office/drawing/2014/main" id="{156A0508-DDAB-4BFB-824D-CA9D3D833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4" name="Freeform 19">
              <a:extLst>
                <a:ext uri="{FF2B5EF4-FFF2-40B4-BE49-F238E27FC236}">
                  <a16:creationId xmlns:a16="http://schemas.microsoft.com/office/drawing/2014/main" id="{E3B0103B-60DE-4385-B84E-53694FB9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5" name="Freeform 20">
              <a:extLst>
                <a:ext uri="{FF2B5EF4-FFF2-40B4-BE49-F238E27FC236}">
                  <a16:creationId xmlns:a16="http://schemas.microsoft.com/office/drawing/2014/main" id="{C8C1C0D4-C36E-4251-A97F-436AFA3797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6" name="Freeform 21">
              <a:extLst>
                <a:ext uri="{FF2B5EF4-FFF2-40B4-BE49-F238E27FC236}">
                  <a16:creationId xmlns:a16="http://schemas.microsoft.com/office/drawing/2014/main" id="{550D7341-7849-4B72-A2D7-68B7161D43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7" name="Freeform 22">
              <a:extLst>
                <a:ext uri="{FF2B5EF4-FFF2-40B4-BE49-F238E27FC236}">
                  <a16:creationId xmlns:a16="http://schemas.microsoft.com/office/drawing/2014/main" id="{C9E742C7-3FF2-4931-B087-46AAA6C33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8" name="Freeform 23">
              <a:extLst>
                <a:ext uri="{FF2B5EF4-FFF2-40B4-BE49-F238E27FC236}">
                  <a16:creationId xmlns:a16="http://schemas.microsoft.com/office/drawing/2014/main" id="{424AF1DB-9264-4B94-9F0D-EF37F12D4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9" name="Freeform 24">
              <a:extLst>
                <a:ext uri="{FF2B5EF4-FFF2-40B4-BE49-F238E27FC236}">
                  <a16:creationId xmlns:a16="http://schemas.microsoft.com/office/drawing/2014/main" id="{766E43D2-CF93-4468-9B12-FFB234513D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0" name="Freeform 25">
              <a:extLst>
                <a:ext uri="{FF2B5EF4-FFF2-40B4-BE49-F238E27FC236}">
                  <a16:creationId xmlns:a16="http://schemas.microsoft.com/office/drawing/2014/main" id="{AC24EC38-E0E5-4A4E-A64D-359DD4A55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1" name="Freeform 26">
              <a:extLst>
                <a:ext uri="{FF2B5EF4-FFF2-40B4-BE49-F238E27FC236}">
                  <a16:creationId xmlns:a16="http://schemas.microsoft.com/office/drawing/2014/main" id="{338D8FE1-6073-44CF-857C-9273A16075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2" name="Freeform 27">
              <a:extLst>
                <a:ext uri="{FF2B5EF4-FFF2-40B4-BE49-F238E27FC236}">
                  <a16:creationId xmlns:a16="http://schemas.microsoft.com/office/drawing/2014/main" id="{39BAF819-1ABF-4754-B2E6-8C023A3B9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3" name="Freeform 28">
              <a:extLst>
                <a:ext uri="{FF2B5EF4-FFF2-40B4-BE49-F238E27FC236}">
                  <a16:creationId xmlns:a16="http://schemas.microsoft.com/office/drawing/2014/main" id="{2B5FE77A-C8CA-4E0E-BA89-53BA982E6A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4" name="Freeform 29">
              <a:extLst>
                <a:ext uri="{FF2B5EF4-FFF2-40B4-BE49-F238E27FC236}">
                  <a16:creationId xmlns:a16="http://schemas.microsoft.com/office/drawing/2014/main" id="{264169FF-BB01-4F56-812A-738BE4AAC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5" name="Freeform 30">
              <a:extLst>
                <a:ext uri="{FF2B5EF4-FFF2-40B4-BE49-F238E27FC236}">
                  <a16:creationId xmlns:a16="http://schemas.microsoft.com/office/drawing/2014/main" id="{831BA8DD-49DA-443B-AD7A-1680CD2875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6" name="Freeform 31">
              <a:extLst>
                <a:ext uri="{FF2B5EF4-FFF2-40B4-BE49-F238E27FC236}">
                  <a16:creationId xmlns:a16="http://schemas.microsoft.com/office/drawing/2014/main" id="{15B5FD47-B408-4DD0-BA9C-76C3F6814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7" name="Freeform 32">
              <a:extLst>
                <a:ext uri="{FF2B5EF4-FFF2-40B4-BE49-F238E27FC236}">
                  <a16:creationId xmlns:a16="http://schemas.microsoft.com/office/drawing/2014/main" id="{2432FB6B-FBB2-438F-A3BC-0392CA944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8" name="Rectangle 33">
              <a:extLst>
                <a:ext uri="{FF2B5EF4-FFF2-40B4-BE49-F238E27FC236}">
                  <a16:creationId xmlns:a16="http://schemas.microsoft.com/office/drawing/2014/main" id="{A9E1CA69-4810-4E1D-A227-EA4EF0151F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49" name="Freeform 34">
              <a:extLst>
                <a:ext uri="{FF2B5EF4-FFF2-40B4-BE49-F238E27FC236}">
                  <a16:creationId xmlns:a16="http://schemas.microsoft.com/office/drawing/2014/main" id="{978653C5-EFDF-4617-9A6A-E810A9C22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0" name="Freeform 35">
              <a:extLst>
                <a:ext uri="{FF2B5EF4-FFF2-40B4-BE49-F238E27FC236}">
                  <a16:creationId xmlns:a16="http://schemas.microsoft.com/office/drawing/2014/main" id="{F1B9F231-1E6A-4122-81B0-043E2A5F5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1" name="Freeform 36">
              <a:extLst>
                <a:ext uri="{FF2B5EF4-FFF2-40B4-BE49-F238E27FC236}">
                  <a16:creationId xmlns:a16="http://schemas.microsoft.com/office/drawing/2014/main" id="{DF2B6BD0-0057-43BC-8681-9FAC9FC53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2" name="Freeform 37">
              <a:extLst>
                <a:ext uri="{FF2B5EF4-FFF2-40B4-BE49-F238E27FC236}">
                  <a16:creationId xmlns:a16="http://schemas.microsoft.com/office/drawing/2014/main" id="{6D7D7117-2276-4EB9-882B-A44A2DB066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3" name="Freeform 38">
              <a:extLst>
                <a:ext uri="{FF2B5EF4-FFF2-40B4-BE49-F238E27FC236}">
                  <a16:creationId xmlns:a16="http://schemas.microsoft.com/office/drawing/2014/main" id="{98AD68EB-6444-4B28-8F06-C0B6111A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4" name="Freeform 39">
              <a:extLst>
                <a:ext uri="{FF2B5EF4-FFF2-40B4-BE49-F238E27FC236}">
                  <a16:creationId xmlns:a16="http://schemas.microsoft.com/office/drawing/2014/main" id="{438FA125-C459-48A2-913F-F5D04E160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5" name="Freeform 40">
              <a:extLst>
                <a:ext uri="{FF2B5EF4-FFF2-40B4-BE49-F238E27FC236}">
                  <a16:creationId xmlns:a16="http://schemas.microsoft.com/office/drawing/2014/main" id="{18E796D1-6480-436F-947D-550CCE516E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6" name="Freeform 41">
              <a:extLst>
                <a:ext uri="{FF2B5EF4-FFF2-40B4-BE49-F238E27FC236}">
                  <a16:creationId xmlns:a16="http://schemas.microsoft.com/office/drawing/2014/main" id="{4549B300-4F89-4E35-B5E7-53E3C6A5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7" name="Freeform 42">
              <a:extLst>
                <a:ext uri="{FF2B5EF4-FFF2-40B4-BE49-F238E27FC236}">
                  <a16:creationId xmlns:a16="http://schemas.microsoft.com/office/drawing/2014/main" id="{D8DA6C40-62DD-4FB3-8D06-5A599E3823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8" name="Freeform 43">
              <a:extLst>
                <a:ext uri="{FF2B5EF4-FFF2-40B4-BE49-F238E27FC236}">
                  <a16:creationId xmlns:a16="http://schemas.microsoft.com/office/drawing/2014/main" id="{28EE2B35-9D3D-4925-8DA9-9DF0E40BC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9" name="Freeform 44">
              <a:extLst>
                <a:ext uri="{FF2B5EF4-FFF2-40B4-BE49-F238E27FC236}">
                  <a16:creationId xmlns:a16="http://schemas.microsoft.com/office/drawing/2014/main" id="{9DB82611-4043-4758-81EC-2239619803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0" name="Rectangle 45">
              <a:extLst>
                <a:ext uri="{FF2B5EF4-FFF2-40B4-BE49-F238E27FC236}">
                  <a16:creationId xmlns:a16="http://schemas.microsoft.com/office/drawing/2014/main" id="{A8210AB3-0776-4F74-9227-5E448D1AFA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61" name="Freeform 46">
              <a:extLst>
                <a:ext uri="{FF2B5EF4-FFF2-40B4-BE49-F238E27FC236}">
                  <a16:creationId xmlns:a16="http://schemas.microsoft.com/office/drawing/2014/main" id="{002C10AB-E300-481E-AFA5-410481B1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2" name="Freeform 47">
              <a:extLst>
                <a:ext uri="{FF2B5EF4-FFF2-40B4-BE49-F238E27FC236}">
                  <a16:creationId xmlns:a16="http://schemas.microsoft.com/office/drawing/2014/main" id="{11F47C5E-0453-4EF5-B969-A8263DC6AF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3" name="Freeform 48">
              <a:extLst>
                <a:ext uri="{FF2B5EF4-FFF2-40B4-BE49-F238E27FC236}">
                  <a16:creationId xmlns:a16="http://schemas.microsoft.com/office/drawing/2014/main" id="{D0CFDC87-55E8-40E1-BD98-4E1EA2C09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4" name="Freeform 49">
              <a:extLst>
                <a:ext uri="{FF2B5EF4-FFF2-40B4-BE49-F238E27FC236}">
                  <a16:creationId xmlns:a16="http://schemas.microsoft.com/office/drawing/2014/main" id="{C1151505-8A7F-41D8-AE03-AD172E38C0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5" name="Freeform 50">
              <a:extLst>
                <a:ext uri="{FF2B5EF4-FFF2-40B4-BE49-F238E27FC236}">
                  <a16:creationId xmlns:a16="http://schemas.microsoft.com/office/drawing/2014/main" id="{918DAD20-1F9F-41A7-B9D0-EE92F9B32D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6" name="Freeform 51">
              <a:extLst>
                <a:ext uri="{FF2B5EF4-FFF2-40B4-BE49-F238E27FC236}">
                  <a16:creationId xmlns:a16="http://schemas.microsoft.com/office/drawing/2014/main" id="{D303B51B-ADCC-43C9-AE4F-0168CFA63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7" name="Freeform 52">
              <a:extLst>
                <a:ext uri="{FF2B5EF4-FFF2-40B4-BE49-F238E27FC236}">
                  <a16:creationId xmlns:a16="http://schemas.microsoft.com/office/drawing/2014/main" id="{5621B409-0B0A-4827-81F9-684C335EE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8" name="Freeform 53">
              <a:extLst>
                <a:ext uri="{FF2B5EF4-FFF2-40B4-BE49-F238E27FC236}">
                  <a16:creationId xmlns:a16="http://schemas.microsoft.com/office/drawing/2014/main" id="{FCA6910E-A4EC-464B-B285-5F1E40AEF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9" name="Freeform 54">
              <a:extLst>
                <a:ext uri="{FF2B5EF4-FFF2-40B4-BE49-F238E27FC236}">
                  <a16:creationId xmlns:a16="http://schemas.microsoft.com/office/drawing/2014/main" id="{7D0C75DF-4953-4E72-B34A-2F8BD0523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0" name="Freeform 55">
              <a:extLst>
                <a:ext uri="{FF2B5EF4-FFF2-40B4-BE49-F238E27FC236}">
                  <a16:creationId xmlns:a16="http://schemas.microsoft.com/office/drawing/2014/main" id="{998A65EA-C434-41FF-B792-2BDC1150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1" name="Freeform 56">
              <a:extLst>
                <a:ext uri="{FF2B5EF4-FFF2-40B4-BE49-F238E27FC236}">
                  <a16:creationId xmlns:a16="http://schemas.microsoft.com/office/drawing/2014/main" id="{3A6D2AE4-7ABD-4946-BE69-5FD3C1A1D6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2" name="Freeform 57">
              <a:extLst>
                <a:ext uri="{FF2B5EF4-FFF2-40B4-BE49-F238E27FC236}">
                  <a16:creationId xmlns:a16="http://schemas.microsoft.com/office/drawing/2014/main" id="{833A81DC-8A3A-4141-A713-A2FE1C572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3" name="Freeform 58">
              <a:extLst>
                <a:ext uri="{FF2B5EF4-FFF2-40B4-BE49-F238E27FC236}">
                  <a16:creationId xmlns:a16="http://schemas.microsoft.com/office/drawing/2014/main" id="{47BB7FFD-57DB-41BD-8D42-9FB58174B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374" name="Picture 2">
            <a:extLst>
              <a:ext uri="{FF2B5EF4-FFF2-40B4-BE49-F238E27FC236}">
                <a16:creationId xmlns:a16="http://schemas.microsoft.com/office/drawing/2014/main" id="{3631D3C9-4C1D-4B3A-A737-E6E7800424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5B2FB29-82FB-380A-B54F-C76B3A7DE5D3}"/>
              </a:ext>
            </a:extLst>
          </p:cNvPr>
          <p:cNvSpPr>
            <a:spLocks noGrp="1"/>
          </p:cNvSpPr>
          <p:nvPr>
            <p:ph type="title"/>
          </p:nvPr>
        </p:nvSpPr>
        <p:spPr>
          <a:xfrm>
            <a:off x="8057397" y="1113282"/>
            <a:ext cx="3489569" cy="2396681"/>
          </a:xfrm>
        </p:spPr>
        <p:txBody>
          <a:bodyPr vert="horz" lIns="91440" tIns="45720" rIns="91440" bIns="45720" rtlCol="0" anchor="b">
            <a:normAutofit fontScale="90000"/>
          </a:bodyPr>
          <a:lstStyle/>
          <a:p>
            <a:r>
              <a:rPr kumimoji="0" lang="en-US" sz="3600" b="0" i="0" u="none" strike="noStrike" kern="1200" cap="all" spc="0" normalizeH="0" baseline="0" noProof="0" dirty="0">
                <a:ln>
                  <a:noFill/>
                </a:ln>
                <a:solidFill>
                  <a:prstClr val="white"/>
                </a:solidFill>
                <a:effectLst/>
                <a:uLnTx/>
                <a:uFillTx/>
                <a:latin typeface="Tw Cen MT" panose="020B0602020104020603"/>
                <a:ea typeface="+mj-ea"/>
                <a:cs typeface="+mj-cs"/>
              </a:rPr>
              <a:t>EDA and key insights</a:t>
            </a:r>
            <a:r>
              <a:rPr lang="en-US" sz="3100" dirty="0">
                <a:solidFill>
                  <a:srgbClr val="FFFFFF"/>
                </a:solidFill>
              </a:rPr>
              <a:t> - </a:t>
            </a:r>
            <a:r>
              <a:rPr lang="en-US" sz="3100" b="1" dirty="0">
                <a:solidFill>
                  <a:srgbClr val="FFFFFF"/>
                </a:solidFill>
              </a:rPr>
              <a:t>Correlation Heatmap (Numerical Variables)</a:t>
            </a:r>
            <a:endParaRPr lang="en-US" sz="3100" dirty="0">
              <a:solidFill>
                <a:srgbClr val="FFFFFF"/>
              </a:solidFill>
            </a:endParaRPr>
          </a:p>
        </p:txBody>
      </p:sp>
      <p:sp useBgFill="1">
        <p:nvSpPr>
          <p:cNvPr id="375" name="Round Diagonal Corner Rectangle 6">
            <a:extLst>
              <a:ext uri="{FF2B5EF4-FFF2-40B4-BE49-F238E27FC236}">
                <a16:creationId xmlns:a16="http://schemas.microsoft.com/office/drawing/2014/main" id="{5B986EF0-8540-483D-9DDE-1F168FAAC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E851296-7FDB-63A9-4C38-A2CF9DB9552F}"/>
              </a:ext>
            </a:extLst>
          </p:cNvPr>
          <p:cNvPicPr>
            <a:picLocks noChangeAspect="1"/>
          </p:cNvPicPr>
          <p:nvPr/>
        </p:nvPicPr>
        <p:blipFill>
          <a:blip r:embed="rId4"/>
          <a:stretch>
            <a:fillRect/>
          </a:stretch>
        </p:blipFill>
        <p:spPr>
          <a:xfrm>
            <a:off x="1349687" y="1136606"/>
            <a:ext cx="5650984" cy="4577297"/>
          </a:xfrm>
          <a:prstGeom prst="rect">
            <a:avLst/>
          </a:prstGeom>
        </p:spPr>
      </p:pic>
    </p:spTree>
    <p:extLst>
      <p:ext uri="{BB962C8B-B14F-4D97-AF65-F5344CB8AC3E}">
        <p14:creationId xmlns:p14="http://schemas.microsoft.com/office/powerpoint/2010/main" val="2438091723"/>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2F2295-D3C3-70BA-3033-5776D32DAE0B}"/>
            </a:ext>
          </a:extLst>
        </p:cNvPr>
        <p:cNvGrpSpPr/>
        <p:nvPr/>
      </p:nvGrpSpPr>
      <p:grpSpPr>
        <a:xfrm>
          <a:off x="0" y="0"/>
          <a:ext cx="0" cy="0"/>
          <a:chOff x="0" y="0"/>
          <a:chExt cx="0" cy="0"/>
        </a:xfrm>
      </p:grpSpPr>
      <p:pic>
        <p:nvPicPr>
          <p:cNvPr id="132"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34" name="Group 133">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35"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36"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7"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8"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39"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0"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1"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2"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3"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4"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5"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6"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7"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8"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9"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0"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1"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2"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3"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4"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5"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6"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7"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8"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9"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0"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1"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2"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3"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64"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5"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6"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7"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8"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9"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0"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1"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2"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3"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4"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5"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76"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7"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8"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9"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0"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1"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2"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3"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4"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5"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6"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7"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8"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190" name="Rectangle 189">
            <a:extLst>
              <a:ext uri="{FF2B5EF4-FFF2-40B4-BE49-F238E27FC236}">
                <a16:creationId xmlns:a16="http://schemas.microsoft.com/office/drawing/2014/main" id="{D706AE2E-B17B-43A3-84F8-9C0FE946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2003"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92" name="Group 191">
            <a:extLst>
              <a:ext uri="{FF2B5EF4-FFF2-40B4-BE49-F238E27FC236}">
                <a16:creationId xmlns:a16="http://schemas.microsoft.com/office/drawing/2014/main" id="{CEFFB8CF-3E94-42D7-849C-841E7744B2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193" name="Rectangle 5">
              <a:extLst>
                <a:ext uri="{FF2B5EF4-FFF2-40B4-BE49-F238E27FC236}">
                  <a16:creationId xmlns:a16="http://schemas.microsoft.com/office/drawing/2014/main" id="{C274DE9A-4502-4454-911E-B7FE9ED6DE3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94" name="Freeform 6">
              <a:extLst>
                <a:ext uri="{FF2B5EF4-FFF2-40B4-BE49-F238E27FC236}">
                  <a16:creationId xmlns:a16="http://schemas.microsoft.com/office/drawing/2014/main" id="{76AFCF59-7BED-416B-ACD9-EA099C9B29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5" name="Freeform 7">
              <a:extLst>
                <a:ext uri="{FF2B5EF4-FFF2-40B4-BE49-F238E27FC236}">
                  <a16:creationId xmlns:a16="http://schemas.microsoft.com/office/drawing/2014/main" id="{8EEECEBC-B149-42E5-8164-EE5456F06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6" name="Rectangle 8">
              <a:extLst>
                <a:ext uri="{FF2B5EF4-FFF2-40B4-BE49-F238E27FC236}">
                  <a16:creationId xmlns:a16="http://schemas.microsoft.com/office/drawing/2014/main" id="{03B49256-D2D8-436B-8F29-0C7E53366F1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97" name="Freeform 9">
              <a:extLst>
                <a:ext uri="{FF2B5EF4-FFF2-40B4-BE49-F238E27FC236}">
                  <a16:creationId xmlns:a16="http://schemas.microsoft.com/office/drawing/2014/main" id="{4045E56F-B537-408E-B346-B9B15C39A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8" name="Freeform 10">
              <a:extLst>
                <a:ext uri="{FF2B5EF4-FFF2-40B4-BE49-F238E27FC236}">
                  <a16:creationId xmlns:a16="http://schemas.microsoft.com/office/drawing/2014/main" id="{904BDB2F-0893-4AD7-A871-C808C9651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9" name="Freeform 11">
              <a:extLst>
                <a:ext uri="{FF2B5EF4-FFF2-40B4-BE49-F238E27FC236}">
                  <a16:creationId xmlns:a16="http://schemas.microsoft.com/office/drawing/2014/main" id="{512D8C6F-C154-4928-9891-DDCF50DA6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0" name="Freeform 12">
              <a:extLst>
                <a:ext uri="{FF2B5EF4-FFF2-40B4-BE49-F238E27FC236}">
                  <a16:creationId xmlns:a16="http://schemas.microsoft.com/office/drawing/2014/main" id="{7E2BBA63-D694-4AD5-976F-4F1CDB204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1" name="Freeform 13">
              <a:extLst>
                <a:ext uri="{FF2B5EF4-FFF2-40B4-BE49-F238E27FC236}">
                  <a16:creationId xmlns:a16="http://schemas.microsoft.com/office/drawing/2014/main" id="{394F9847-4F95-42E8-AE7E-8DD8A0E2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2" name="Freeform 14">
              <a:extLst>
                <a:ext uri="{FF2B5EF4-FFF2-40B4-BE49-F238E27FC236}">
                  <a16:creationId xmlns:a16="http://schemas.microsoft.com/office/drawing/2014/main" id="{48CE4CA3-085D-44AC-996B-9F347B7BC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3" name="Freeform 15">
              <a:extLst>
                <a:ext uri="{FF2B5EF4-FFF2-40B4-BE49-F238E27FC236}">
                  <a16:creationId xmlns:a16="http://schemas.microsoft.com/office/drawing/2014/main" id="{0D7459AE-7E00-4707-B574-1D3636BB46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4" name="Freeform 16">
              <a:extLst>
                <a:ext uri="{FF2B5EF4-FFF2-40B4-BE49-F238E27FC236}">
                  <a16:creationId xmlns:a16="http://schemas.microsoft.com/office/drawing/2014/main" id="{EF95E020-0C4A-4BD5-84BE-6DF8B8BCAB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5" name="Freeform 17">
              <a:extLst>
                <a:ext uri="{FF2B5EF4-FFF2-40B4-BE49-F238E27FC236}">
                  <a16:creationId xmlns:a16="http://schemas.microsoft.com/office/drawing/2014/main" id="{18CC4862-B9BB-4E63-9630-AA5241E68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6" name="Freeform 18">
              <a:extLst>
                <a:ext uri="{FF2B5EF4-FFF2-40B4-BE49-F238E27FC236}">
                  <a16:creationId xmlns:a16="http://schemas.microsoft.com/office/drawing/2014/main" id="{156A0508-DDAB-4BFB-824D-CA9D3D833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7" name="Freeform 19">
              <a:extLst>
                <a:ext uri="{FF2B5EF4-FFF2-40B4-BE49-F238E27FC236}">
                  <a16:creationId xmlns:a16="http://schemas.microsoft.com/office/drawing/2014/main" id="{E3B0103B-60DE-4385-B84E-53694FB9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8" name="Freeform 20">
              <a:extLst>
                <a:ext uri="{FF2B5EF4-FFF2-40B4-BE49-F238E27FC236}">
                  <a16:creationId xmlns:a16="http://schemas.microsoft.com/office/drawing/2014/main" id="{C8C1C0D4-C36E-4251-A97F-436AFA3797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9" name="Freeform 21">
              <a:extLst>
                <a:ext uri="{FF2B5EF4-FFF2-40B4-BE49-F238E27FC236}">
                  <a16:creationId xmlns:a16="http://schemas.microsoft.com/office/drawing/2014/main" id="{550D7341-7849-4B72-A2D7-68B7161D43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0" name="Freeform 22">
              <a:extLst>
                <a:ext uri="{FF2B5EF4-FFF2-40B4-BE49-F238E27FC236}">
                  <a16:creationId xmlns:a16="http://schemas.microsoft.com/office/drawing/2014/main" id="{C9E742C7-3FF2-4931-B087-46AAA6C33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1" name="Freeform 23">
              <a:extLst>
                <a:ext uri="{FF2B5EF4-FFF2-40B4-BE49-F238E27FC236}">
                  <a16:creationId xmlns:a16="http://schemas.microsoft.com/office/drawing/2014/main" id="{424AF1DB-9264-4B94-9F0D-EF37F12D4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2" name="Freeform 24">
              <a:extLst>
                <a:ext uri="{FF2B5EF4-FFF2-40B4-BE49-F238E27FC236}">
                  <a16:creationId xmlns:a16="http://schemas.microsoft.com/office/drawing/2014/main" id="{766E43D2-CF93-4468-9B12-FFB234513D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3" name="Freeform 25">
              <a:extLst>
                <a:ext uri="{FF2B5EF4-FFF2-40B4-BE49-F238E27FC236}">
                  <a16:creationId xmlns:a16="http://schemas.microsoft.com/office/drawing/2014/main" id="{AC24EC38-E0E5-4A4E-A64D-359DD4A55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4" name="Freeform 26">
              <a:extLst>
                <a:ext uri="{FF2B5EF4-FFF2-40B4-BE49-F238E27FC236}">
                  <a16:creationId xmlns:a16="http://schemas.microsoft.com/office/drawing/2014/main" id="{338D8FE1-6073-44CF-857C-9273A16075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5" name="Freeform 27">
              <a:extLst>
                <a:ext uri="{FF2B5EF4-FFF2-40B4-BE49-F238E27FC236}">
                  <a16:creationId xmlns:a16="http://schemas.microsoft.com/office/drawing/2014/main" id="{39BAF819-1ABF-4754-B2E6-8C023A3B9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6" name="Freeform 28">
              <a:extLst>
                <a:ext uri="{FF2B5EF4-FFF2-40B4-BE49-F238E27FC236}">
                  <a16:creationId xmlns:a16="http://schemas.microsoft.com/office/drawing/2014/main" id="{2B5FE77A-C8CA-4E0E-BA89-53BA982E6A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7" name="Freeform 29">
              <a:extLst>
                <a:ext uri="{FF2B5EF4-FFF2-40B4-BE49-F238E27FC236}">
                  <a16:creationId xmlns:a16="http://schemas.microsoft.com/office/drawing/2014/main" id="{264169FF-BB01-4F56-812A-738BE4AAC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8" name="Freeform 30">
              <a:extLst>
                <a:ext uri="{FF2B5EF4-FFF2-40B4-BE49-F238E27FC236}">
                  <a16:creationId xmlns:a16="http://schemas.microsoft.com/office/drawing/2014/main" id="{831BA8DD-49DA-443B-AD7A-1680CD2875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9" name="Freeform 31">
              <a:extLst>
                <a:ext uri="{FF2B5EF4-FFF2-40B4-BE49-F238E27FC236}">
                  <a16:creationId xmlns:a16="http://schemas.microsoft.com/office/drawing/2014/main" id="{15B5FD47-B408-4DD0-BA9C-76C3F6814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0" name="Freeform 32">
              <a:extLst>
                <a:ext uri="{FF2B5EF4-FFF2-40B4-BE49-F238E27FC236}">
                  <a16:creationId xmlns:a16="http://schemas.microsoft.com/office/drawing/2014/main" id="{2432FB6B-FBB2-438F-A3BC-0392CA944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1" name="Rectangle 33">
              <a:extLst>
                <a:ext uri="{FF2B5EF4-FFF2-40B4-BE49-F238E27FC236}">
                  <a16:creationId xmlns:a16="http://schemas.microsoft.com/office/drawing/2014/main" id="{A9E1CA69-4810-4E1D-A227-EA4EF0151F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22" name="Freeform 34">
              <a:extLst>
                <a:ext uri="{FF2B5EF4-FFF2-40B4-BE49-F238E27FC236}">
                  <a16:creationId xmlns:a16="http://schemas.microsoft.com/office/drawing/2014/main" id="{978653C5-EFDF-4617-9A6A-E810A9C22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3" name="Freeform 35">
              <a:extLst>
                <a:ext uri="{FF2B5EF4-FFF2-40B4-BE49-F238E27FC236}">
                  <a16:creationId xmlns:a16="http://schemas.microsoft.com/office/drawing/2014/main" id="{F1B9F231-1E6A-4122-81B0-043E2A5F5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4" name="Freeform 36">
              <a:extLst>
                <a:ext uri="{FF2B5EF4-FFF2-40B4-BE49-F238E27FC236}">
                  <a16:creationId xmlns:a16="http://schemas.microsoft.com/office/drawing/2014/main" id="{DF2B6BD0-0057-43BC-8681-9FAC9FC53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5" name="Freeform 37">
              <a:extLst>
                <a:ext uri="{FF2B5EF4-FFF2-40B4-BE49-F238E27FC236}">
                  <a16:creationId xmlns:a16="http://schemas.microsoft.com/office/drawing/2014/main" id="{6D7D7117-2276-4EB9-882B-A44A2DB066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6" name="Freeform 38">
              <a:extLst>
                <a:ext uri="{FF2B5EF4-FFF2-40B4-BE49-F238E27FC236}">
                  <a16:creationId xmlns:a16="http://schemas.microsoft.com/office/drawing/2014/main" id="{98AD68EB-6444-4B28-8F06-C0B6111A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7" name="Freeform 39">
              <a:extLst>
                <a:ext uri="{FF2B5EF4-FFF2-40B4-BE49-F238E27FC236}">
                  <a16:creationId xmlns:a16="http://schemas.microsoft.com/office/drawing/2014/main" id="{438FA125-C459-48A2-913F-F5D04E160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8" name="Freeform 40">
              <a:extLst>
                <a:ext uri="{FF2B5EF4-FFF2-40B4-BE49-F238E27FC236}">
                  <a16:creationId xmlns:a16="http://schemas.microsoft.com/office/drawing/2014/main" id="{18E796D1-6480-436F-947D-550CCE516E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9" name="Freeform 41">
              <a:extLst>
                <a:ext uri="{FF2B5EF4-FFF2-40B4-BE49-F238E27FC236}">
                  <a16:creationId xmlns:a16="http://schemas.microsoft.com/office/drawing/2014/main" id="{4549B300-4F89-4E35-B5E7-53E3C6A5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0" name="Freeform 42">
              <a:extLst>
                <a:ext uri="{FF2B5EF4-FFF2-40B4-BE49-F238E27FC236}">
                  <a16:creationId xmlns:a16="http://schemas.microsoft.com/office/drawing/2014/main" id="{D8DA6C40-62DD-4FB3-8D06-5A599E3823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1" name="Freeform 43">
              <a:extLst>
                <a:ext uri="{FF2B5EF4-FFF2-40B4-BE49-F238E27FC236}">
                  <a16:creationId xmlns:a16="http://schemas.microsoft.com/office/drawing/2014/main" id="{28EE2B35-9D3D-4925-8DA9-9DF0E40BC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2" name="Freeform 44">
              <a:extLst>
                <a:ext uri="{FF2B5EF4-FFF2-40B4-BE49-F238E27FC236}">
                  <a16:creationId xmlns:a16="http://schemas.microsoft.com/office/drawing/2014/main" id="{9DB82611-4043-4758-81EC-2239619803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3" name="Rectangle 45">
              <a:extLst>
                <a:ext uri="{FF2B5EF4-FFF2-40B4-BE49-F238E27FC236}">
                  <a16:creationId xmlns:a16="http://schemas.microsoft.com/office/drawing/2014/main" id="{A8210AB3-0776-4F74-9227-5E448D1AFA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34" name="Freeform 46">
              <a:extLst>
                <a:ext uri="{FF2B5EF4-FFF2-40B4-BE49-F238E27FC236}">
                  <a16:creationId xmlns:a16="http://schemas.microsoft.com/office/drawing/2014/main" id="{002C10AB-E300-481E-AFA5-410481B1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5" name="Freeform 47">
              <a:extLst>
                <a:ext uri="{FF2B5EF4-FFF2-40B4-BE49-F238E27FC236}">
                  <a16:creationId xmlns:a16="http://schemas.microsoft.com/office/drawing/2014/main" id="{11F47C5E-0453-4EF5-B969-A8263DC6AF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6" name="Freeform 48">
              <a:extLst>
                <a:ext uri="{FF2B5EF4-FFF2-40B4-BE49-F238E27FC236}">
                  <a16:creationId xmlns:a16="http://schemas.microsoft.com/office/drawing/2014/main" id="{D0CFDC87-55E8-40E1-BD98-4E1EA2C09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7" name="Freeform 49">
              <a:extLst>
                <a:ext uri="{FF2B5EF4-FFF2-40B4-BE49-F238E27FC236}">
                  <a16:creationId xmlns:a16="http://schemas.microsoft.com/office/drawing/2014/main" id="{C1151505-8A7F-41D8-AE03-AD172E38C0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8" name="Freeform 50">
              <a:extLst>
                <a:ext uri="{FF2B5EF4-FFF2-40B4-BE49-F238E27FC236}">
                  <a16:creationId xmlns:a16="http://schemas.microsoft.com/office/drawing/2014/main" id="{918DAD20-1F9F-41A7-B9D0-EE92F9B32D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9" name="Freeform 51">
              <a:extLst>
                <a:ext uri="{FF2B5EF4-FFF2-40B4-BE49-F238E27FC236}">
                  <a16:creationId xmlns:a16="http://schemas.microsoft.com/office/drawing/2014/main" id="{D303B51B-ADCC-43C9-AE4F-0168CFA63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0" name="Freeform 52">
              <a:extLst>
                <a:ext uri="{FF2B5EF4-FFF2-40B4-BE49-F238E27FC236}">
                  <a16:creationId xmlns:a16="http://schemas.microsoft.com/office/drawing/2014/main" id="{5621B409-0B0A-4827-81F9-684C335EE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1" name="Freeform 53">
              <a:extLst>
                <a:ext uri="{FF2B5EF4-FFF2-40B4-BE49-F238E27FC236}">
                  <a16:creationId xmlns:a16="http://schemas.microsoft.com/office/drawing/2014/main" id="{FCA6910E-A4EC-464B-B285-5F1E40AEF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2" name="Freeform 54">
              <a:extLst>
                <a:ext uri="{FF2B5EF4-FFF2-40B4-BE49-F238E27FC236}">
                  <a16:creationId xmlns:a16="http://schemas.microsoft.com/office/drawing/2014/main" id="{7D0C75DF-4953-4E72-B34A-2F8BD0523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3" name="Freeform 55">
              <a:extLst>
                <a:ext uri="{FF2B5EF4-FFF2-40B4-BE49-F238E27FC236}">
                  <a16:creationId xmlns:a16="http://schemas.microsoft.com/office/drawing/2014/main" id="{998A65EA-C434-41FF-B792-2BDC1150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4" name="Freeform 56">
              <a:extLst>
                <a:ext uri="{FF2B5EF4-FFF2-40B4-BE49-F238E27FC236}">
                  <a16:creationId xmlns:a16="http://schemas.microsoft.com/office/drawing/2014/main" id="{3A6D2AE4-7ABD-4946-BE69-5FD3C1A1D6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5" name="Freeform 57">
              <a:extLst>
                <a:ext uri="{FF2B5EF4-FFF2-40B4-BE49-F238E27FC236}">
                  <a16:creationId xmlns:a16="http://schemas.microsoft.com/office/drawing/2014/main" id="{833A81DC-8A3A-4141-A713-A2FE1C572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6" name="Freeform 58">
              <a:extLst>
                <a:ext uri="{FF2B5EF4-FFF2-40B4-BE49-F238E27FC236}">
                  <a16:creationId xmlns:a16="http://schemas.microsoft.com/office/drawing/2014/main" id="{47BB7FFD-57DB-41BD-8D42-9FB58174B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248" name="Picture 2">
            <a:extLst>
              <a:ext uri="{FF2B5EF4-FFF2-40B4-BE49-F238E27FC236}">
                <a16:creationId xmlns:a16="http://schemas.microsoft.com/office/drawing/2014/main" id="{3631D3C9-4C1D-4B3A-A737-E6E7800424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411C27-EDBA-6C7D-2047-C8D62496CC8D}"/>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kumimoji="0" lang="en-US" sz="3100" b="0" i="0" u="none" strike="noStrike" spc="0" normalizeH="0" noProof="0">
                <a:ln>
                  <a:noFill/>
                </a:ln>
                <a:solidFill>
                  <a:srgbClr val="FFFFFF"/>
                </a:solidFill>
                <a:effectLst/>
                <a:uLnTx/>
                <a:uFillTx/>
              </a:rPr>
              <a:t>EDA and key insights</a:t>
            </a:r>
            <a:r>
              <a:rPr lang="en-US" sz="3100" dirty="0">
                <a:solidFill>
                  <a:srgbClr val="FFFFFF"/>
                </a:solidFill>
              </a:rPr>
              <a:t> – </a:t>
            </a:r>
            <a:r>
              <a:rPr lang="en-US" sz="3100" b="1" dirty="0">
                <a:solidFill>
                  <a:srgbClr val="FFFFFF"/>
                </a:solidFill>
              </a:rPr>
              <a:t>TARGET VARIABLE Distribution</a:t>
            </a:r>
            <a:endParaRPr lang="en-US" sz="3100" dirty="0">
              <a:solidFill>
                <a:srgbClr val="FFFFFF"/>
              </a:solidFill>
            </a:endParaRPr>
          </a:p>
        </p:txBody>
      </p:sp>
      <p:sp useBgFill="1">
        <p:nvSpPr>
          <p:cNvPr id="250" name="Round Diagonal Corner Rectangle 6">
            <a:extLst>
              <a:ext uri="{FF2B5EF4-FFF2-40B4-BE49-F238E27FC236}">
                <a16:creationId xmlns:a16="http://schemas.microsoft.com/office/drawing/2014/main" id="{5B986EF0-8540-483D-9DDE-1F168FAAC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95F5A5E-6A18-241E-7817-6B1F48536963}"/>
              </a:ext>
            </a:extLst>
          </p:cNvPr>
          <p:cNvPicPr>
            <a:picLocks noChangeAspect="1"/>
          </p:cNvPicPr>
          <p:nvPr/>
        </p:nvPicPr>
        <p:blipFill>
          <a:blip r:embed="rId4"/>
          <a:stretch>
            <a:fillRect/>
          </a:stretch>
        </p:blipFill>
        <p:spPr>
          <a:xfrm>
            <a:off x="1458682" y="1136606"/>
            <a:ext cx="5432994" cy="4577297"/>
          </a:xfrm>
          <a:prstGeom prst="rect">
            <a:avLst/>
          </a:prstGeom>
        </p:spPr>
      </p:pic>
    </p:spTree>
    <p:extLst>
      <p:ext uri="{BB962C8B-B14F-4D97-AF65-F5344CB8AC3E}">
        <p14:creationId xmlns:p14="http://schemas.microsoft.com/office/powerpoint/2010/main" val="209023643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3C490-6085-BCD1-714A-16A76D6F1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6CEC8-13AB-7EEC-DE62-6CAC9CED2A99}"/>
              </a:ext>
            </a:extLst>
          </p:cNvPr>
          <p:cNvSpPr>
            <a:spLocks noGrp="1"/>
          </p:cNvSpPr>
          <p:nvPr>
            <p:ph type="title"/>
          </p:nvPr>
        </p:nvSpPr>
        <p:spPr/>
        <p:txBody>
          <a:bodyPr/>
          <a:lstStyle/>
          <a:p>
            <a:r>
              <a:rPr lang="en-IN" b="1" dirty="0"/>
              <a:t>Note: About the Dataset</a:t>
            </a:r>
            <a:endParaRPr lang="en-IN" dirty="0"/>
          </a:p>
        </p:txBody>
      </p:sp>
      <p:sp>
        <p:nvSpPr>
          <p:cNvPr id="3" name="Content Placeholder 2">
            <a:extLst>
              <a:ext uri="{FF2B5EF4-FFF2-40B4-BE49-F238E27FC236}">
                <a16:creationId xmlns:a16="http://schemas.microsoft.com/office/drawing/2014/main" id="{27F15187-3EB2-13E3-0D90-9BC6D6D800D7}"/>
              </a:ext>
            </a:extLst>
          </p:cNvPr>
          <p:cNvSpPr>
            <a:spLocks noGrp="1"/>
          </p:cNvSpPr>
          <p:nvPr>
            <p:ph idx="1"/>
          </p:nvPr>
        </p:nvSpPr>
        <p:spPr>
          <a:xfrm>
            <a:off x="1141412" y="2249486"/>
            <a:ext cx="9905999" cy="4608513"/>
          </a:xfrm>
        </p:spPr>
        <p:txBody>
          <a:bodyPr>
            <a:normAutofit/>
          </a:bodyPr>
          <a:lstStyle/>
          <a:p>
            <a:r>
              <a:rPr lang="en-IN" dirty="0"/>
              <a:t>The dataset used is synthetically generated</a:t>
            </a:r>
          </a:p>
          <a:p>
            <a:r>
              <a:rPr lang="en-IN" dirty="0"/>
              <a:t>It does not exhibit a naturally occurring distribution or correlation between the variables</a:t>
            </a:r>
          </a:p>
          <a:p>
            <a:r>
              <a:rPr lang="en-IN" dirty="0"/>
              <a:t>Trends captured by the models are representative rather than predictive of real-world </a:t>
            </a:r>
            <a:r>
              <a:rPr lang="en-IN" dirty="0" err="1"/>
              <a:t>behavior</a:t>
            </a:r>
            <a:endParaRPr lang="en-IN" dirty="0"/>
          </a:p>
          <a:p>
            <a:r>
              <a:rPr lang="en-IN" dirty="0"/>
              <a:t>Despite this, the data serves well for research and prototyping purposes</a:t>
            </a:r>
          </a:p>
        </p:txBody>
      </p:sp>
    </p:spTree>
    <p:extLst>
      <p:ext uri="{BB962C8B-B14F-4D97-AF65-F5344CB8AC3E}">
        <p14:creationId xmlns:p14="http://schemas.microsoft.com/office/powerpoint/2010/main" val="1949359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3907F-60DF-C701-3291-0A65DECE1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6A75B-37B4-A7CC-9D51-63D9472EAE6E}"/>
              </a:ext>
            </a:extLst>
          </p:cNvPr>
          <p:cNvSpPr>
            <a:spLocks noGrp="1"/>
          </p:cNvSpPr>
          <p:nvPr>
            <p:ph type="title"/>
          </p:nvPr>
        </p:nvSpPr>
        <p:spPr/>
        <p:txBody>
          <a:bodyPr/>
          <a:lstStyle/>
          <a:p>
            <a:r>
              <a:rPr lang="en-US" dirty="0"/>
              <a:t>Model development</a:t>
            </a:r>
          </a:p>
        </p:txBody>
      </p:sp>
      <p:sp>
        <p:nvSpPr>
          <p:cNvPr id="3" name="Content Placeholder 2">
            <a:extLst>
              <a:ext uri="{FF2B5EF4-FFF2-40B4-BE49-F238E27FC236}">
                <a16:creationId xmlns:a16="http://schemas.microsoft.com/office/drawing/2014/main" id="{F2C122EF-AFFF-81F9-C1EA-5C5198C5D77D}"/>
              </a:ext>
            </a:extLst>
          </p:cNvPr>
          <p:cNvSpPr>
            <a:spLocks noGrp="1"/>
          </p:cNvSpPr>
          <p:nvPr>
            <p:ph idx="1"/>
          </p:nvPr>
        </p:nvSpPr>
        <p:spPr>
          <a:xfrm>
            <a:off x="1141412" y="2249486"/>
            <a:ext cx="9905999" cy="4097525"/>
          </a:xfrm>
        </p:spPr>
        <p:txBody>
          <a:bodyPr>
            <a:normAutofit fontScale="85000" lnSpcReduction="20000"/>
          </a:bodyPr>
          <a:lstStyle/>
          <a:p>
            <a:r>
              <a:rPr lang="en-IN" dirty="0"/>
              <a:t>Models tried: Logistic Regression, Support Vector Machines, Random Forest, </a:t>
            </a:r>
            <a:r>
              <a:rPr lang="en-IN" dirty="0" err="1"/>
              <a:t>LightGBM</a:t>
            </a:r>
            <a:r>
              <a:rPr lang="en-IN" dirty="0"/>
              <a:t>, Custom Neural Network architecture</a:t>
            </a:r>
          </a:p>
          <a:p>
            <a:r>
              <a:rPr lang="en-IN" dirty="0"/>
              <a:t>Metrics used: Accuracy, Precision, Recall, F1 Score</a:t>
            </a:r>
          </a:p>
          <a:p>
            <a:r>
              <a:rPr lang="en-IN" dirty="0"/>
              <a:t>Best performer: </a:t>
            </a:r>
            <a:r>
              <a:rPr lang="en-IN" dirty="0" err="1"/>
              <a:t>LightGBM</a:t>
            </a:r>
            <a:r>
              <a:rPr lang="en-IN" dirty="0"/>
              <a:t> with balanced precision and recall</a:t>
            </a:r>
          </a:p>
          <a:p>
            <a:r>
              <a:rPr lang="en-IN" dirty="0"/>
              <a:t>Interpretation: Feature importance plots used for explainability</a:t>
            </a:r>
          </a:p>
          <a:p>
            <a:r>
              <a:rPr lang="en-IN" dirty="0"/>
              <a:t>Neural Network Architecture:</a:t>
            </a:r>
          </a:p>
          <a:p>
            <a:pPr lvl="1"/>
            <a:r>
              <a:rPr lang="en-IN" dirty="0"/>
              <a:t>Input layer: 128 neurons with ReLU activation</a:t>
            </a:r>
          </a:p>
          <a:p>
            <a:pPr lvl="1"/>
            <a:r>
              <a:rPr lang="en-IN" dirty="0"/>
              <a:t>Dropout: 30% to prevent overfitting</a:t>
            </a:r>
          </a:p>
          <a:p>
            <a:pPr lvl="1"/>
            <a:r>
              <a:rPr lang="en-IN" dirty="0"/>
              <a:t>Hidden layer: 64 neurons with ReLU</a:t>
            </a:r>
          </a:p>
          <a:p>
            <a:pPr lvl="1"/>
            <a:r>
              <a:rPr lang="en-IN" dirty="0"/>
              <a:t>Dropout: 30% again</a:t>
            </a:r>
          </a:p>
          <a:p>
            <a:pPr lvl="1"/>
            <a:r>
              <a:rPr lang="en-IN" dirty="0"/>
              <a:t>Output layer: </a:t>
            </a:r>
            <a:r>
              <a:rPr lang="en-IN" dirty="0" err="1"/>
              <a:t>softmax</a:t>
            </a:r>
            <a:r>
              <a:rPr lang="en-IN" dirty="0"/>
              <a:t> activation for classification</a:t>
            </a:r>
          </a:p>
          <a:p>
            <a:endParaRPr lang="en-IN" dirty="0"/>
          </a:p>
        </p:txBody>
      </p:sp>
    </p:spTree>
    <p:extLst>
      <p:ext uri="{BB962C8B-B14F-4D97-AF65-F5344CB8AC3E}">
        <p14:creationId xmlns:p14="http://schemas.microsoft.com/office/powerpoint/2010/main" val="3880194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101536-3839-FB68-19DB-83454C5688A9}"/>
            </a:ext>
          </a:extLst>
        </p:cNvPr>
        <p:cNvGrpSpPr/>
        <p:nvPr/>
      </p:nvGrpSpPr>
      <p:grpSpPr>
        <a:xfrm>
          <a:off x="0" y="0"/>
          <a:ext cx="0" cy="0"/>
          <a:chOff x="0" y="0"/>
          <a:chExt cx="0" cy="0"/>
        </a:xfrm>
      </p:grpSpPr>
      <p:pic>
        <p:nvPicPr>
          <p:cNvPr id="11"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4"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69" name="Rectangle 68">
            <a:extLst>
              <a:ext uri="{FF2B5EF4-FFF2-40B4-BE49-F238E27FC236}">
                <a16:creationId xmlns:a16="http://schemas.microsoft.com/office/drawing/2014/main" id="{D706AE2E-B17B-43A3-84F8-9C0FE946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2003"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CEFFB8CF-3E94-42D7-849C-841E7744B2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72" name="Rectangle 5">
              <a:extLst>
                <a:ext uri="{FF2B5EF4-FFF2-40B4-BE49-F238E27FC236}">
                  <a16:creationId xmlns:a16="http://schemas.microsoft.com/office/drawing/2014/main" id="{C274DE9A-4502-4454-911E-B7FE9ED6DE3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3" name="Freeform 6">
              <a:extLst>
                <a:ext uri="{FF2B5EF4-FFF2-40B4-BE49-F238E27FC236}">
                  <a16:creationId xmlns:a16="http://schemas.microsoft.com/office/drawing/2014/main" id="{76AFCF59-7BED-416B-ACD9-EA099C9B29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7">
              <a:extLst>
                <a:ext uri="{FF2B5EF4-FFF2-40B4-BE49-F238E27FC236}">
                  <a16:creationId xmlns:a16="http://schemas.microsoft.com/office/drawing/2014/main" id="{8EEECEBC-B149-42E5-8164-EE5456F06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Rectangle 8">
              <a:extLst>
                <a:ext uri="{FF2B5EF4-FFF2-40B4-BE49-F238E27FC236}">
                  <a16:creationId xmlns:a16="http://schemas.microsoft.com/office/drawing/2014/main" id="{03B49256-D2D8-436B-8F29-0C7E53366F1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6" name="Freeform 9">
              <a:extLst>
                <a:ext uri="{FF2B5EF4-FFF2-40B4-BE49-F238E27FC236}">
                  <a16:creationId xmlns:a16="http://schemas.microsoft.com/office/drawing/2014/main" id="{4045E56F-B537-408E-B346-B9B15C39A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10">
              <a:extLst>
                <a:ext uri="{FF2B5EF4-FFF2-40B4-BE49-F238E27FC236}">
                  <a16:creationId xmlns:a16="http://schemas.microsoft.com/office/drawing/2014/main" id="{904BDB2F-0893-4AD7-A871-C808C9651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11">
              <a:extLst>
                <a:ext uri="{FF2B5EF4-FFF2-40B4-BE49-F238E27FC236}">
                  <a16:creationId xmlns:a16="http://schemas.microsoft.com/office/drawing/2014/main" id="{512D8C6F-C154-4928-9891-DDCF50DA6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12">
              <a:extLst>
                <a:ext uri="{FF2B5EF4-FFF2-40B4-BE49-F238E27FC236}">
                  <a16:creationId xmlns:a16="http://schemas.microsoft.com/office/drawing/2014/main" id="{7E2BBA63-D694-4AD5-976F-4F1CDB204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13">
              <a:extLst>
                <a:ext uri="{FF2B5EF4-FFF2-40B4-BE49-F238E27FC236}">
                  <a16:creationId xmlns:a16="http://schemas.microsoft.com/office/drawing/2014/main" id="{394F9847-4F95-42E8-AE7E-8DD8A0E2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14">
              <a:extLst>
                <a:ext uri="{FF2B5EF4-FFF2-40B4-BE49-F238E27FC236}">
                  <a16:creationId xmlns:a16="http://schemas.microsoft.com/office/drawing/2014/main" id="{48CE4CA3-085D-44AC-996B-9F347B7BC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15">
              <a:extLst>
                <a:ext uri="{FF2B5EF4-FFF2-40B4-BE49-F238E27FC236}">
                  <a16:creationId xmlns:a16="http://schemas.microsoft.com/office/drawing/2014/main" id="{0D7459AE-7E00-4707-B574-1D3636BB46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16">
              <a:extLst>
                <a:ext uri="{FF2B5EF4-FFF2-40B4-BE49-F238E27FC236}">
                  <a16:creationId xmlns:a16="http://schemas.microsoft.com/office/drawing/2014/main" id="{EF95E020-0C4A-4BD5-84BE-6DF8B8BCAB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17">
              <a:extLst>
                <a:ext uri="{FF2B5EF4-FFF2-40B4-BE49-F238E27FC236}">
                  <a16:creationId xmlns:a16="http://schemas.microsoft.com/office/drawing/2014/main" id="{18CC4862-B9BB-4E63-9630-AA5241E68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18">
              <a:extLst>
                <a:ext uri="{FF2B5EF4-FFF2-40B4-BE49-F238E27FC236}">
                  <a16:creationId xmlns:a16="http://schemas.microsoft.com/office/drawing/2014/main" id="{156A0508-DDAB-4BFB-824D-CA9D3D833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19">
              <a:extLst>
                <a:ext uri="{FF2B5EF4-FFF2-40B4-BE49-F238E27FC236}">
                  <a16:creationId xmlns:a16="http://schemas.microsoft.com/office/drawing/2014/main" id="{E3B0103B-60DE-4385-B84E-53694FB9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20">
              <a:extLst>
                <a:ext uri="{FF2B5EF4-FFF2-40B4-BE49-F238E27FC236}">
                  <a16:creationId xmlns:a16="http://schemas.microsoft.com/office/drawing/2014/main" id="{C8C1C0D4-C36E-4251-A97F-436AFA3797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21">
              <a:extLst>
                <a:ext uri="{FF2B5EF4-FFF2-40B4-BE49-F238E27FC236}">
                  <a16:creationId xmlns:a16="http://schemas.microsoft.com/office/drawing/2014/main" id="{550D7341-7849-4B72-A2D7-68B7161D43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Freeform 22">
              <a:extLst>
                <a:ext uri="{FF2B5EF4-FFF2-40B4-BE49-F238E27FC236}">
                  <a16:creationId xmlns:a16="http://schemas.microsoft.com/office/drawing/2014/main" id="{C9E742C7-3FF2-4931-B087-46AAA6C33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0" name="Freeform 23">
              <a:extLst>
                <a:ext uri="{FF2B5EF4-FFF2-40B4-BE49-F238E27FC236}">
                  <a16:creationId xmlns:a16="http://schemas.microsoft.com/office/drawing/2014/main" id="{424AF1DB-9264-4B94-9F0D-EF37F12D4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24">
              <a:extLst>
                <a:ext uri="{FF2B5EF4-FFF2-40B4-BE49-F238E27FC236}">
                  <a16:creationId xmlns:a16="http://schemas.microsoft.com/office/drawing/2014/main" id="{766E43D2-CF93-4468-9B12-FFB234513D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25">
              <a:extLst>
                <a:ext uri="{FF2B5EF4-FFF2-40B4-BE49-F238E27FC236}">
                  <a16:creationId xmlns:a16="http://schemas.microsoft.com/office/drawing/2014/main" id="{AC24EC38-E0E5-4A4E-A64D-359DD4A55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26">
              <a:extLst>
                <a:ext uri="{FF2B5EF4-FFF2-40B4-BE49-F238E27FC236}">
                  <a16:creationId xmlns:a16="http://schemas.microsoft.com/office/drawing/2014/main" id="{338D8FE1-6073-44CF-857C-9273A16075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27">
              <a:extLst>
                <a:ext uri="{FF2B5EF4-FFF2-40B4-BE49-F238E27FC236}">
                  <a16:creationId xmlns:a16="http://schemas.microsoft.com/office/drawing/2014/main" id="{39BAF819-1ABF-4754-B2E6-8C023A3B9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5" name="Freeform 28">
              <a:extLst>
                <a:ext uri="{FF2B5EF4-FFF2-40B4-BE49-F238E27FC236}">
                  <a16:creationId xmlns:a16="http://schemas.microsoft.com/office/drawing/2014/main" id="{2B5FE77A-C8CA-4E0E-BA89-53BA982E6A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6" name="Freeform 29">
              <a:extLst>
                <a:ext uri="{FF2B5EF4-FFF2-40B4-BE49-F238E27FC236}">
                  <a16:creationId xmlns:a16="http://schemas.microsoft.com/office/drawing/2014/main" id="{264169FF-BB01-4F56-812A-738BE4AAC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7" name="Freeform 30">
              <a:extLst>
                <a:ext uri="{FF2B5EF4-FFF2-40B4-BE49-F238E27FC236}">
                  <a16:creationId xmlns:a16="http://schemas.microsoft.com/office/drawing/2014/main" id="{831BA8DD-49DA-443B-AD7A-1680CD2875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31">
              <a:extLst>
                <a:ext uri="{FF2B5EF4-FFF2-40B4-BE49-F238E27FC236}">
                  <a16:creationId xmlns:a16="http://schemas.microsoft.com/office/drawing/2014/main" id="{15B5FD47-B408-4DD0-BA9C-76C3F6814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32">
              <a:extLst>
                <a:ext uri="{FF2B5EF4-FFF2-40B4-BE49-F238E27FC236}">
                  <a16:creationId xmlns:a16="http://schemas.microsoft.com/office/drawing/2014/main" id="{2432FB6B-FBB2-438F-A3BC-0392CA944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Rectangle 33">
              <a:extLst>
                <a:ext uri="{FF2B5EF4-FFF2-40B4-BE49-F238E27FC236}">
                  <a16:creationId xmlns:a16="http://schemas.microsoft.com/office/drawing/2014/main" id="{A9E1CA69-4810-4E1D-A227-EA4EF0151F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01" name="Freeform 34">
              <a:extLst>
                <a:ext uri="{FF2B5EF4-FFF2-40B4-BE49-F238E27FC236}">
                  <a16:creationId xmlns:a16="http://schemas.microsoft.com/office/drawing/2014/main" id="{978653C5-EFDF-4617-9A6A-E810A9C22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2" name="Freeform 35">
              <a:extLst>
                <a:ext uri="{FF2B5EF4-FFF2-40B4-BE49-F238E27FC236}">
                  <a16:creationId xmlns:a16="http://schemas.microsoft.com/office/drawing/2014/main" id="{F1B9F231-1E6A-4122-81B0-043E2A5F5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3" name="Freeform 36">
              <a:extLst>
                <a:ext uri="{FF2B5EF4-FFF2-40B4-BE49-F238E27FC236}">
                  <a16:creationId xmlns:a16="http://schemas.microsoft.com/office/drawing/2014/main" id="{DF2B6BD0-0057-43BC-8681-9FAC9FC53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37">
              <a:extLst>
                <a:ext uri="{FF2B5EF4-FFF2-40B4-BE49-F238E27FC236}">
                  <a16:creationId xmlns:a16="http://schemas.microsoft.com/office/drawing/2014/main" id="{6D7D7117-2276-4EB9-882B-A44A2DB066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38">
              <a:extLst>
                <a:ext uri="{FF2B5EF4-FFF2-40B4-BE49-F238E27FC236}">
                  <a16:creationId xmlns:a16="http://schemas.microsoft.com/office/drawing/2014/main" id="{98AD68EB-6444-4B28-8F06-C0B6111A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39">
              <a:extLst>
                <a:ext uri="{FF2B5EF4-FFF2-40B4-BE49-F238E27FC236}">
                  <a16:creationId xmlns:a16="http://schemas.microsoft.com/office/drawing/2014/main" id="{438FA125-C459-48A2-913F-F5D04E160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Freeform 40">
              <a:extLst>
                <a:ext uri="{FF2B5EF4-FFF2-40B4-BE49-F238E27FC236}">
                  <a16:creationId xmlns:a16="http://schemas.microsoft.com/office/drawing/2014/main" id="{18E796D1-6480-436F-947D-550CCE516E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8" name="Freeform 41">
              <a:extLst>
                <a:ext uri="{FF2B5EF4-FFF2-40B4-BE49-F238E27FC236}">
                  <a16:creationId xmlns:a16="http://schemas.microsoft.com/office/drawing/2014/main" id="{4549B300-4F89-4E35-B5E7-53E3C6A5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9" name="Freeform 42">
              <a:extLst>
                <a:ext uri="{FF2B5EF4-FFF2-40B4-BE49-F238E27FC236}">
                  <a16:creationId xmlns:a16="http://schemas.microsoft.com/office/drawing/2014/main" id="{D8DA6C40-62DD-4FB3-8D06-5A599E3823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43">
              <a:extLst>
                <a:ext uri="{FF2B5EF4-FFF2-40B4-BE49-F238E27FC236}">
                  <a16:creationId xmlns:a16="http://schemas.microsoft.com/office/drawing/2014/main" id="{28EE2B35-9D3D-4925-8DA9-9DF0E40BC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44">
              <a:extLst>
                <a:ext uri="{FF2B5EF4-FFF2-40B4-BE49-F238E27FC236}">
                  <a16:creationId xmlns:a16="http://schemas.microsoft.com/office/drawing/2014/main" id="{9DB82611-4043-4758-81EC-2239619803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Rectangle 45">
              <a:extLst>
                <a:ext uri="{FF2B5EF4-FFF2-40B4-BE49-F238E27FC236}">
                  <a16:creationId xmlns:a16="http://schemas.microsoft.com/office/drawing/2014/main" id="{A8210AB3-0776-4F74-9227-5E448D1AFA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13" name="Freeform 46">
              <a:extLst>
                <a:ext uri="{FF2B5EF4-FFF2-40B4-BE49-F238E27FC236}">
                  <a16:creationId xmlns:a16="http://schemas.microsoft.com/office/drawing/2014/main" id="{002C10AB-E300-481E-AFA5-410481B1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4" name="Freeform 47">
              <a:extLst>
                <a:ext uri="{FF2B5EF4-FFF2-40B4-BE49-F238E27FC236}">
                  <a16:creationId xmlns:a16="http://schemas.microsoft.com/office/drawing/2014/main" id="{11F47C5E-0453-4EF5-B969-A8263DC6AF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5" name="Freeform 48">
              <a:extLst>
                <a:ext uri="{FF2B5EF4-FFF2-40B4-BE49-F238E27FC236}">
                  <a16:creationId xmlns:a16="http://schemas.microsoft.com/office/drawing/2014/main" id="{D0CFDC87-55E8-40E1-BD98-4E1EA2C09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6" name="Freeform 49">
              <a:extLst>
                <a:ext uri="{FF2B5EF4-FFF2-40B4-BE49-F238E27FC236}">
                  <a16:creationId xmlns:a16="http://schemas.microsoft.com/office/drawing/2014/main" id="{C1151505-8A7F-41D8-AE03-AD172E38C0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7" name="Freeform 50">
              <a:extLst>
                <a:ext uri="{FF2B5EF4-FFF2-40B4-BE49-F238E27FC236}">
                  <a16:creationId xmlns:a16="http://schemas.microsoft.com/office/drawing/2014/main" id="{918DAD20-1F9F-41A7-B9D0-EE92F9B32D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8" name="Freeform 51">
              <a:extLst>
                <a:ext uri="{FF2B5EF4-FFF2-40B4-BE49-F238E27FC236}">
                  <a16:creationId xmlns:a16="http://schemas.microsoft.com/office/drawing/2014/main" id="{D303B51B-ADCC-43C9-AE4F-0168CFA63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9" name="Freeform 52">
              <a:extLst>
                <a:ext uri="{FF2B5EF4-FFF2-40B4-BE49-F238E27FC236}">
                  <a16:creationId xmlns:a16="http://schemas.microsoft.com/office/drawing/2014/main" id="{5621B409-0B0A-4827-81F9-684C335EE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0" name="Freeform 53">
              <a:extLst>
                <a:ext uri="{FF2B5EF4-FFF2-40B4-BE49-F238E27FC236}">
                  <a16:creationId xmlns:a16="http://schemas.microsoft.com/office/drawing/2014/main" id="{FCA6910E-A4EC-464B-B285-5F1E40AEF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1" name="Freeform 54">
              <a:extLst>
                <a:ext uri="{FF2B5EF4-FFF2-40B4-BE49-F238E27FC236}">
                  <a16:creationId xmlns:a16="http://schemas.microsoft.com/office/drawing/2014/main" id="{7D0C75DF-4953-4E72-B34A-2F8BD0523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2" name="Freeform 55">
              <a:extLst>
                <a:ext uri="{FF2B5EF4-FFF2-40B4-BE49-F238E27FC236}">
                  <a16:creationId xmlns:a16="http://schemas.microsoft.com/office/drawing/2014/main" id="{998A65EA-C434-41FF-B792-2BDC1150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3" name="Freeform 56">
              <a:extLst>
                <a:ext uri="{FF2B5EF4-FFF2-40B4-BE49-F238E27FC236}">
                  <a16:creationId xmlns:a16="http://schemas.microsoft.com/office/drawing/2014/main" id="{3A6D2AE4-7ABD-4946-BE69-5FD3C1A1D6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4" name="Freeform 57">
              <a:extLst>
                <a:ext uri="{FF2B5EF4-FFF2-40B4-BE49-F238E27FC236}">
                  <a16:creationId xmlns:a16="http://schemas.microsoft.com/office/drawing/2014/main" id="{833A81DC-8A3A-4141-A713-A2FE1C572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5" name="Freeform 58">
              <a:extLst>
                <a:ext uri="{FF2B5EF4-FFF2-40B4-BE49-F238E27FC236}">
                  <a16:creationId xmlns:a16="http://schemas.microsoft.com/office/drawing/2014/main" id="{47BB7FFD-57DB-41BD-8D42-9FB58174B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127" name="Picture 2">
            <a:extLst>
              <a:ext uri="{FF2B5EF4-FFF2-40B4-BE49-F238E27FC236}">
                <a16:creationId xmlns:a16="http://schemas.microsoft.com/office/drawing/2014/main" id="{3631D3C9-4C1D-4B3A-A737-E6E7800424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E47499D-4D37-5AC4-A081-0D389BD0C3B2}"/>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3100" dirty="0">
                <a:solidFill>
                  <a:srgbClr val="FFFFFF"/>
                </a:solidFill>
              </a:rPr>
              <a:t>Model development – Feature importance </a:t>
            </a:r>
            <a:r>
              <a:rPr lang="en-US" sz="3100" dirty="0" err="1">
                <a:solidFill>
                  <a:srgbClr val="FFFFFF"/>
                </a:solidFill>
              </a:rPr>
              <a:t>LightGBM</a:t>
            </a:r>
            <a:endParaRPr lang="en-US" sz="3100" dirty="0">
              <a:solidFill>
                <a:srgbClr val="FFFFFF"/>
              </a:solidFill>
            </a:endParaRPr>
          </a:p>
        </p:txBody>
      </p:sp>
      <p:sp useBgFill="1">
        <p:nvSpPr>
          <p:cNvPr id="129" name="Round Diagonal Corner Rectangle 6">
            <a:extLst>
              <a:ext uri="{FF2B5EF4-FFF2-40B4-BE49-F238E27FC236}">
                <a16:creationId xmlns:a16="http://schemas.microsoft.com/office/drawing/2014/main" id="{5B986EF0-8540-483D-9DDE-1F168FAAC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aph with text overlay&#10;&#10;AI-generated content may be incorrect.">
            <a:extLst>
              <a:ext uri="{FF2B5EF4-FFF2-40B4-BE49-F238E27FC236}">
                <a16:creationId xmlns:a16="http://schemas.microsoft.com/office/drawing/2014/main" id="{2A49264E-8067-B928-2BCC-42A5D7186D3E}"/>
              </a:ext>
            </a:extLst>
          </p:cNvPr>
          <p:cNvPicPr>
            <a:picLocks noChangeAspect="1"/>
          </p:cNvPicPr>
          <p:nvPr/>
        </p:nvPicPr>
        <p:blipFill>
          <a:blip r:embed="rId4"/>
          <a:stretch>
            <a:fillRect/>
          </a:stretch>
        </p:blipFill>
        <p:spPr>
          <a:xfrm>
            <a:off x="1118988" y="1599181"/>
            <a:ext cx="6112382" cy="3652147"/>
          </a:xfrm>
          <a:prstGeom prst="rect">
            <a:avLst/>
          </a:prstGeom>
        </p:spPr>
      </p:pic>
    </p:spTree>
    <p:extLst>
      <p:ext uri="{BB962C8B-B14F-4D97-AF65-F5344CB8AC3E}">
        <p14:creationId xmlns:p14="http://schemas.microsoft.com/office/powerpoint/2010/main" val="1083257519"/>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61B2B-9453-0718-02A0-4780B3FE6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4EDFF-3AB0-3D38-30D1-14B6083DB922}"/>
              </a:ext>
            </a:extLst>
          </p:cNvPr>
          <p:cNvSpPr>
            <a:spLocks noGrp="1"/>
          </p:cNvSpPr>
          <p:nvPr>
            <p:ph type="title"/>
          </p:nvPr>
        </p:nvSpPr>
        <p:spPr/>
        <p:txBody>
          <a:bodyPr/>
          <a:lstStyle/>
          <a:p>
            <a:r>
              <a:rPr lang="en-US" dirty="0" err="1"/>
              <a:t>Streamlit</a:t>
            </a:r>
            <a:r>
              <a:rPr lang="en-US" dirty="0"/>
              <a:t> app features</a:t>
            </a:r>
          </a:p>
        </p:txBody>
      </p:sp>
      <p:sp>
        <p:nvSpPr>
          <p:cNvPr id="3" name="Content Placeholder 2">
            <a:extLst>
              <a:ext uri="{FF2B5EF4-FFF2-40B4-BE49-F238E27FC236}">
                <a16:creationId xmlns:a16="http://schemas.microsoft.com/office/drawing/2014/main" id="{057B82B4-6C70-7CAD-62AC-675EAA905AF8}"/>
              </a:ext>
            </a:extLst>
          </p:cNvPr>
          <p:cNvSpPr>
            <a:spLocks noGrp="1"/>
          </p:cNvSpPr>
          <p:nvPr>
            <p:ph idx="1"/>
          </p:nvPr>
        </p:nvSpPr>
        <p:spPr/>
        <p:txBody>
          <a:bodyPr/>
          <a:lstStyle/>
          <a:p>
            <a:r>
              <a:rPr lang="en-IN" dirty="0"/>
              <a:t>Upload user data or use demo inputs</a:t>
            </a:r>
          </a:p>
          <a:p>
            <a:r>
              <a:rPr lang="en-IN" dirty="0"/>
              <a:t>Live prediction based on trained model</a:t>
            </a:r>
          </a:p>
          <a:p>
            <a:r>
              <a:rPr lang="en-IN" dirty="0"/>
              <a:t>Display of model confidence and influencing factors</a:t>
            </a:r>
          </a:p>
          <a:p>
            <a:r>
              <a:rPr lang="en-IN" dirty="0"/>
              <a:t>Clean interface for non-technical users</a:t>
            </a:r>
          </a:p>
          <a:p>
            <a:endParaRPr lang="en-US" dirty="0"/>
          </a:p>
        </p:txBody>
      </p:sp>
    </p:spTree>
    <p:extLst>
      <p:ext uri="{BB962C8B-B14F-4D97-AF65-F5344CB8AC3E}">
        <p14:creationId xmlns:p14="http://schemas.microsoft.com/office/powerpoint/2010/main" val="3856595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3579179E-CDBF-62A3-A66E-26C18D8F177B}"/>
            </a:ext>
          </a:extLst>
        </p:cNvPr>
        <p:cNvGrpSpPr/>
        <p:nvPr/>
      </p:nvGrpSpPr>
      <p:grpSpPr>
        <a:xfrm>
          <a:off x="0" y="0"/>
          <a:ext cx="0" cy="0"/>
          <a:chOff x="0" y="0"/>
          <a:chExt cx="0" cy="0"/>
        </a:xfrm>
      </p:grpSpPr>
      <p:pic>
        <p:nvPicPr>
          <p:cNvPr id="129" name="Picture 2">
            <a:extLst>
              <a:ext uri="{FF2B5EF4-FFF2-40B4-BE49-F238E27FC236}">
                <a16:creationId xmlns:a16="http://schemas.microsoft.com/office/drawing/2014/main" id="{50C065C3-0FE3-4452-B765-CB05BBB2A9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30" name="Group 129">
            <a:extLst>
              <a:ext uri="{FF2B5EF4-FFF2-40B4-BE49-F238E27FC236}">
                <a16:creationId xmlns:a16="http://schemas.microsoft.com/office/drawing/2014/main" id="{9795E515-5F57-431F-9A0D-3A0419DF75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D45BCBFE-0478-4767-BF2E-FC2C548BA6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E903928F-F6DA-470C-81A0-CF7D9DE034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ADA095F6-E326-4450-A2D6-DB2BF989B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 name="Rectangle 8">
              <a:extLst>
                <a:ext uri="{FF2B5EF4-FFF2-40B4-BE49-F238E27FC236}">
                  <a16:creationId xmlns:a16="http://schemas.microsoft.com/office/drawing/2014/main" id="{6B067F9A-FDF2-49EC-B4FF-CD4B90F789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6" name="Freeform 9">
              <a:extLst>
                <a:ext uri="{FF2B5EF4-FFF2-40B4-BE49-F238E27FC236}">
                  <a16:creationId xmlns:a16="http://schemas.microsoft.com/office/drawing/2014/main" id="{F1331213-D19D-49FC-8616-168A14565A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2ADFE242-96FC-4A14-8C59-90CD6DE1D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6A97B7BC-40BD-494B-9C6B-AF3045559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3D7F35CF-F44C-491F-904D-A31ED83213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84D9BF7E-18C2-452C-B139-4ED58D7A0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700A6223-AD38-426F-A6FE-7926CAEF3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D172AA94-449F-45EB-94E6-67C186C32D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16">
              <a:extLst>
                <a:ext uri="{FF2B5EF4-FFF2-40B4-BE49-F238E27FC236}">
                  <a16:creationId xmlns:a16="http://schemas.microsoft.com/office/drawing/2014/main" id="{A7D4F697-8937-4F4C-83C5-770B3FCB82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Freeform 17">
              <a:extLst>
                <a:ext uri="{FF2B5EF4-FFF2-40B4-BE49-F238E27FC236}">
                  <a16:creationId xmlns:a16="http://schemas.microsoft.com/office/drawing/2014/main" id="{10AF1D59-5117-4D47-8414-4BB61F944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2387DC33-88B3-4718-8C94-41659EA33A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D4E7EC64-4763-4F04-B2E4-E400364D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581717DF-9FD4-47CB-9579-E34DF7E875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21">
              <a:extLst>
                <a:ext uri="{FF2B5EF4-FFF2-40B4-BE49-F238E27FC236}">
                  <a16:creationId xmlns:a16="http://schemas.microsoft.com/office/drawing/2014/main" id="{BCD8EF50-6E58-4B2D-90B6-AFF236A73B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22">
              <a:extLst>
                <a:ext uri="{FF2B5EF4-FFF2-40B4-BE49-F238E27FC236}">
                  <a16:creationId xmlns:a16="http://schemas.microsoft.com/office/drawing/2014/main" id="{6524A268-142A-4CBF-BB8B-DC1FCBC8F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56A0E6F3-B76B-4813-B44B-56CE11A8A0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A74CED8D-B902-4B76-9CC8-30A09B2FA1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ED007BD7-ED56-4566-B1FF-707160024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90AD48D2-5BC8-4C80-B126-B1A201242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BE14C82F-9F35-4D61-B758-7BCE32DEC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6540CE06-9028-497A-AC64-CF0ED60A74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A4825B3B-52CD-4F08-BA02-6C2B0EFED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6877A5EF-B8B8-44D3-AA57-4BBF89206D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00BB365C-9180-4208-92CF-AB6A88848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32">
              <a:extLst>
                <a:ext uri="{FF2B5EF4-FFF2-40B4-BE49-F238E27FC236}">
                  <a16:creationId xmlns:a16="http://schemas.microsoft.com/office/drawing/2014/main" id="{8D1134D2-53A6-41D5-AC1A-5254A2FBD0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Rectangle 33">
              <a:extLst>
                <a:ext uri="{FF2B5EF4-FFF2-40B4-BE49-F238E27FC236}">
                  <a16:creationId xmlns:a16="http://schemas.microsoft.com/office/drawing/2014/main" id="{24C7FA73-07CD-479A-9B9E-DAD4D3B2BF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1" name="Freeform 34">
              <a:extLst>
                <a:ext uri="{FF2B5EF4-FFF2-40B4-BE49-F238E27FC236}">
                  <a16:creationId xmlns:a16="http://schemas.microsoft.com/office/drawing/2014/main" id="{AB24DF92-B081-4701-B58D-913261A00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2" name="Freeform 35">
              <a:extLst>
                <a:ext uri="{FF2B5EF4-FFF2-40B4-BE49-F238E27FC236}">
                  <a16:creationId xmlns:a16="http://schemas.microsoft.com/office/drawing/2014/main" id="{AB4DF275-6B82-4AA9-A7A9-138E631E3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3" name="Freeform 36">
              <a:extLst>
                <a:ext uri="{FF2B5EF4-FFF2-40B4-BE49-F238E27FC236}">
                  <a16:creationId xmlns:a16="http://schemas.microsoft.com/office/drawing/2014/main" id="{972A3812-16AD-453E-B1E6-9F39894F7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37">
              <a:extLst>
                <a:ext uri="{FF2B5EF4-FFF2-40B4-BE49-F238E27FC236}">
                  <a16:creationId xmlns:a16="http://schemas.microsoft.com/office/drawing/2014/main" id="{8FB6759A-BAD8-4073-86A2-6DDD73DE2A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38">
              <a:extLst>
                <a:ext uri="{FF2B5EF4-FFF2-40B4-BE49-F238E27FC236}">
                  <a16:creationId xmlns:a16="http://schemas.microsoft.com/office/drawing/2014/main" id="{9FCCB0F4-1178-47C1-9EE2-234EA715C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39">
              <a:extLst>
                <a:ext uri="{FF2B5EF4-FFF2-40B4-BE49-F238E27FC236}">
                  <a16:creationId xmlns:a16="http://schemas.microsoft.com/office/drawing/2014/main" id="{CB01BF0B-7EB0-4C18-80BE-20D2EAC04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40">
              <a:extLst>
                <a:ext uri="{FF2B5EF4-FFF2-40B4-BE49-F238E27FC236}">
                  <a16:creationId xmlns:a16="http://schemas.microsoft.com/office/drawing/2014/main" id="{3266E9DA-C937-48E0-8F98-90A467760F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41">
              <a:extLst>
                <a:ext uri="{FF2B5EF4-FFF2-40B4-BE49-F238E27FC236}">
                  <a16:creationId xmlns:a16="http://schemas.microsoft.com/office/drawing/2014/main" id="{A8A9C00D-0425-4E68-A1DE-BCE5BD6BB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42">
              <a:extLst>
                <a:ext uri="{FF2B5EF4-FFF2-40B4-BE49-F238E27FC236}">
                  <a16:creationId xmlns:a16="http://schemas.microsoft.com/office/drawing/2014/main" id="{46230904-E744-4B55-84FF-826A6B737B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43">
              <a:extLst>
                <a:ext uri="{FF2B5EF4-FFF2-40B4-BE49-F238E27FC236}">
                  <a16:creationId xmlns:a16="http://schemas.microsoft.com/office/drawing/2014/main" id="{D4291668-8AF0-4784-BC06-870768F53F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44">
              <a:extLst>
                <a:ext uri="{FF2B5EF4-FFF2-40B4-BE49-F238E27FC236}">
                  <a16:creationId xmlns:a16="http://schemas.microsoft.com/office/drawing/2014/main" id="{D917DCBD-774B-4AAF-92AE-D18289FFC4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2" name="Rectangle 45">
              <a:extLst>
                <a:ext uri="{FF2B5EF4-FFF2-40B4-BE49-F238E27FC236}">
                  <a16:creationId xmlns:a16="http://schemas.microsoft.com/office/drawing/2014/main" id="{9E50122E-0F19-4D65-9CB2-E22C3EA84A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53" name="Freeform 46">
              <a:extLst>
                <a:ext uri="{FF2B5EF4-FFF2-40B4-BE49-F238E27FC236}">
                  <a16:creationId xmlns:a16="http://schemas.microsoft.com/office/drawing/2014/main" id="{BC28A765-6E8B-4352-BD0C-35474F70A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4" name="Freeform 47">
              <a:extLst>
                <a:ext uri="{FF2B5EF4-FFF2-40B4-BE49-F238E27FC236}">
                  <a16:creationId xmlns:a16="http://schemas.microsoft.com/office/drawing/2014/main" id="{0AC30A17-F494-44EB-9817-1B8B255CE4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5" name="Freeform 48">
              <a:extLst>
                <a:ext uri="{FF2B5EF4-FFF2-40B4-BE49-F238E27FC236}">
                  <a16:creationId xmlns:a16="http://schemas.microsoft.com/office/drawing/2014/main" id="{6088D59F-32BD-4932-9C22-9AA0FCDA7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6" name="Freeform 49">
              <a:extLst>
                <a:ext uri="{FF2B5EF4-FFF2-40B4-BE49-F238E27FC236}">
                  <a16:creationId xmlns:a16="http://schemas.microsoft.com/office/drawing/2014/main" id="{B18BBE45-5F21-47FA-B291-AC802D715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7" name="Freeform 50">
              <a:extLst>
                <a:ext uri="{FF2B5EF4-FFF2-40B4-BE49-F238E27FC236}">
                  <a16:creationId xmlns:a16="http://schemas.microsoft.com/office/drawing/2014/main" id="{A1BD992D-1C4B-4E69-A627-A45D8958E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8" name="Freeform 51">
              <a:extLst>
                <a:ext uri="{FF2B5EF4-FFF2-40B4-BE49-F238E27FC236}">
                  <a16:creationId xmlns:a16="http://schemas.microsoft.com/office/drawing/2014/main" id="{571C0498-7105-455E-8B0A-233F850F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9" name="Freeform 52">
              <a:extLst>
                <a:ext uri="{FF2B5EF4-FFF2-40B4-BE49-F238E27FC236}">
                  <a16:creationId xmlns:a16="http://schemas.microsoft.com/office/drawing/2014/main" id="{F6FA78CC-C0B1-422F-B535-05580A971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0" name="Freeform 53">
              <a:extLst>
                <a:ext uri="{FF2B5EF4-FFF2-40B4-BE49-F238E27FC236}">
                  <a16:creationId xmlns:a16="http://schemas.microsoft.com/office/drawing/2014/main" id="{49A1BACF-EE5E-46F8-8968-D4CF18BC01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1" name="Freeform 54">
              <a:extLst>
                <a:ext uri="{FF2B5EF4-FFF2-40B4-BE49-F238E27FC236}">
                  <a16:creationId xmlns:a16="http://schemas.microsoft.com/office/drawing/2014/main" id="{0AF8DFAF-8AF7-453E-AED7-89E59FBD7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2" name="Freeform 55">
              <a:extLst>
                <a:ext uri="{FF2B5EF4-FFF2-40B4-BE49-F238E27FC236}">
                  <a16:creationId xmlns:a16="http://schemas.microsoft.com/office/drawing/2014/main" id="{F8C26D97-8DA4-4556-92E4-2AE66B36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3" name="Freeform 56">
              <a:extLst>
                <a:ext uri="{FF2B5EF4-FFF2-40B4-BE49-F238E27FC236}">
                  <a16:creationId xmlns:a16="http://schemas.microsoft.com/office/drawing/2014/main" id="{EEF9D855-A8A7-44CC-919C-BEA327F254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4" name="Freeform 57">
              <a:extLst>
                <a:ext uri="{FF2B5EF4-FFF2-40B4-BE49-F238E27FC236}">
                  <a16:creationId xmlns:a16="http://schemas.microsoft.com/office/drawing/2014/main" id="{11F0B045-803C-4067-A182-066EEB2C4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5" name="Freeform 58">
              <a:extLst>
                <a:ext uri="{FF2B5EF4-FFF2-40B4-BE49-F238E27FC236}">
                  <a16:creationId xmlns:a16="http://schemas.microsoft.com/office/drawing/2014/main" id="{3C1FCACB-EFEF-4B54-99A6-E327A637C2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8C300B94-450B-0EDA-CCFA-03B2F262B301}"/>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4400"/>
              <a:t>UI view - homepage</a:t>
            </a:r>
          </a:p>
        </p:txBody>
      </p:sp>
      <p:sp>
        <p:nvSpPr>
          <p:cNvPr id="131" name="Round Diagonal Corner Rectangle 6">
            <a:extLst>
              <a:ext uri="{FF2B5EF4-FFF2-40B4-BE49-F238E27FC236}">
                <a16:creationId xmlns:a16="http://schemas.microsoft.com/office/drawing/2014/main" id="{8B3F5CD4-CBC8-4A22-9DCC-0420CA28A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F6B80A-193C-08E1-6D55-8EAC46F9B5FE}"/>
              </a:ext>
            </a:extLst>
          </p:cNvPr>
          <p:cNvPicPr>
            <a:picLocks noChangeAspect="1"/>
          </p:cNvPicPr>
          <p:nvPr/>
        </p:nvPicPr>
        <p:blipFill>
          <a:blip r:embed="rId5"/>
          <a:srcRect l="9151" r="18738" b="-1"/>
          <a:stretch>
            <a:fillRect/>
          </a:stretch>
        </p:blipFill>
        <p:spPr>
          <a:xfrm>
            <a:off x="1118988" y="1136606"/>
            <a:ext cx="6112382" cy="4577297"/>
          </a:xfrm>
          <a:prstGeom prst="rect">
            <a:avLst/>
          </a:prstGeom>
        </p:spPr>
      </p:pic>
    </p:spTree>
    <p:extLst>
      <p:ext uri="{BB962C8B-B14F-4D97-AF65-F5344CB8AC3E}">
        <p14:creationId xmlns:p14="http://schemas.microsoft.com/office/powerpoint/2010/main" val="89210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C7783036-05B3-AF1C-449E-B7654775CE33}"/>
            </a:ext>
          </a:extLst>
        </p:cNvPr>
        <p:cNvGrpSpPr/>
        <p:nvPr/>
      </p:nvGrpSpPr>
      <p:grpSpPr>
        <a:xfrm>
          <a:off x="0" y="0"/>
          <a:ext cx="0" cy="0"/>
          <a:chOff x="0" y="0"/>
          <a:chExt cx="0" cy="0"/>
        </a:xfrm>
      </p:grpSpPr>
      <p:pic>
        <p:nvPicPr>
          <p:cNvPr id="10" name="Picture 2">
            <a:extLst>
              <a:ext uri="{FF2B5EF4-FFF2-40B4-BE49-F238E27FC236}">
                <a16:creationId xmlns:a16="http://schemas.microsoft.com/office/drawing/2014/main" id="{50C065C3-0FE3-4452-B765-CB05BBB2A9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nvGrpSpPr>
          <p:cNvPr id="12" name="Group 11">
            <a:extLst>
              <a:ext uri="{FF2B5EF4-FFF2-40B4-BE49-F238E27FC236}">
                <a16:creationId xmlns:a16="http://schemas.microsoft.com/office/drawing/2014/main" id="{9795E515-5F57-431F-9A0D-3A0419DF75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3" name="Rectangle 5">
              <a:extLst>
                <a:ext uri="{FF2B5EF4-FFF2-40B4-BE49-F238E27FC236}">
                  <a16:creationId xmlns:a16="http://schemas.microsoft.com/office/drawing/2014/main" id="{D45BCBFE-0478-4767-BF2E-FC2C548BA6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4" name="Freeform 6">
              <a:extLst>
                <a:ext uri="{FF2B5EF4-FFF2-40B4-BE49-F238E27FC236}">
                  <a16:creationId xmlns:a16="http://schemas.microsoft.com/office/drawing/2014/main" id="{E903928F-F6DA-470C-81A0-CF7D9DE034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5" name="Freeform 7">
              <a:extLst>
                <a:ext uri="{FF2B5EF4-FFF2-40B4-BE49-F238E27FC236}">
                  <a16:creationId xmlns:a16="http://schemas.microsoft.com/office/drawing/2014/main" id="{ADA095F6-E326-4450-A2D6-DB2BF989B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 name="Rectangle 8">
              <a:extLst>
                <a:ext uri="{FF2B5EF4-FFF2-40B4-BE49-F238E27FC236}">
                  <a16:creationId xmlns:a16="http://schemas.microsoft.com/office/drawing/2014/main" id="{6B067F9A-FDF2-49EC-B4FF-CD4B90F789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7" name="Freeform 9">
              <a:extLst>
                <a:ext uri="{FF2B5EF4-FFF2-40B4-BE49-F238E27FC236}">
                  <a16:creationId xmlns:a16="http://schemas.microsoft.com/office/drawing/2014/main" id="{F1331213-D19D-49FC-8616-168A14565A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8" name="Freeform 10">
              <a:extLst>
                <a:ext uri="{FF2B5EF4-FFF2-40B4-BE49-F238E27FC236}">
                  <a16:creationId xmlns:a16="http://schemas.microsoft.com/office/drawing/2014/main" id="{2ADFE242-96FC-4A14-8C59-90CD6DE1D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11">
              <a:extLst>
                <a:ext uri="{FF2B5EF4-FFF2-40B4-BE49-F238E27FC236}">
                  <a16:creationId xmlns:a16="http://schemas.microsoft.com/office/drawing/2014/main" id="{6A97B7BC-40BD-494B-9C6B-AF3045559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12">
              <a:extLst>
                <a:ext uri="{FF2B5EF4-FFF2-40B4-BE49-F238E27FC236}">
                  <a16:creationId xmlns:a16="http://schemas.microsoft.com/office/drawing/2014/main" id="{3D7F35CF-F44C-491F-904D-A31ED83213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13">
              <a:extLst>
                <a:ext uri="{FF2B5EF4-FFF2-40B4-BE49-F238E27FC236}">
                  <a16:creationId xmlns:a16="http://schemas.microsoft.com/office/drawing/2014/main" id="{84D9BF7E-18C2-452C-B139-4ED58D7A0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14">
              <a:extLst>
                <a:ext uri="{FF2B5EF4-FFF2-40B4-BE49-F238E27FC236}">
                  <a16:creationId xmlns:a16="http://schemas.microsoft.com/office/drawing/2014/main" id="{700A6223-AD38-426F-A6FE-7926CAEF3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15">
              <a:extLst>
                <a:ext uri="{FF2B5EF4-FFF2-40B4-BE49-F238E27FC236}">
                  <a16:creationId xmlns:a16="http://schemas.microsoft.com/office/drawing/2014/main" id="{D172AA94-449F-45EB-94E6-67C186C32D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Freeform 16">
              <a:extLst>
                <a:ext uri="{FF2B5EF4-FFF2-40B4-BE49-F238E27FC236}">
                  <a16:creationId xmlns:a16="http://schemas.microsoft.com/office/drawing/2014/main" id="{A7D4F697-8937-4F4C-83C5-770B3FCB82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5" name="Freeform 17">
              <a:extLst>
                <a:ext uri="{FF2B5EF4-FFF2-40B4-BE49-F238E27FC236}">
                  <a16:creationId xmlns:a16="http://schemas.microsoft.com/office/drawing/2014/main" id="{10AF1D59-5117-4D47-8414-4BB61F944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6" name="Freeform 18">
              <a:extLst>
                <a:ext uri="{FF2B5EF4-FFF2-40B4-BE49-F238E27FC236}">
                  <a16:creationId xmlns:a16="http://schemas.microsoft.com/office/drawing/2014/main" id="{2387DC33-88B3-4718-8C94-41659EA33A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19">
              <a:extLst>
                <a:ext uri="{FF2B5EF4-FFF2-40B4-BE49-F238E27FC236}">
                  <a16:creationId xmlns:a16="http://schemas.microsoft.com/office/drawing/2014/main" id="{D4E7EC64-4763-4F04-B2E4-E400364D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20">
              <a:extLst>
                <a:ext uri="{FF2B5EF4-FFF2-40B4-BE49-F238E27FC236}">
                  <a16:creationId xmlns:a16="http://schemas.microsoft.com/office/drawing/2014/main" id="{581717DF-9FD4-47CB-9579-E34DF7E875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21">
              <a:extLst>
                <a:ext uri="{FF2B5EF4-FFF2-40B4-BE49-F238E27FC236}">
                  <a16:creationId xmlns:a16="http://schemas.microsoft.com/office/drawing/2014/main" id="{BCD8EF50-6E58-4B2D-90B6-AFF236A73B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22">
              <a:extLst>
                <a:ext uri="{FF2B5EF4-FFF2-40B4-BE49-F238E27FC236}">
                  <a16:creationId xmlns:a16="http://schemas.microsoft.com/office/drawing/2014/main" id="{6524A268-142A-4CBF-BB8B-DC1FCBC8F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23">
              <a:extLst>
                <a:ext uri="{FF2B5EF4-FFF2-40B4-BE49-F238E27FC236}">
                  <a16:creationId xmlns:a16="http://schemas.microsoft.com/office/drawing/2014/main" id="{56A0E6F3-B76B-4813-B44B-56CE11A8A0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24">
              <a:extLst>
                <a:ext uri="{FF2B5EF4-FFF2-40B4-BE49-F238E27FC236}">
                  <a16:creationId xmlns:a16="http://schemas.microsoft.com/office/drawing/2014/main" id="{A74CED8D-B902-4B76-9CC8-30A09B2FA1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25">
              <a:extLst>
                <a:ext uri="{FF2B5EF4-FFF2-40B4-BE49-F238E27FC236}">
                  <a16:creationId xmlns:a16="http://schemas.microsoft.com/office/drawing/2014/main" id="{ED007BD7-ED56-4566-B1FF-707160024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26">
              <a:extLst>
                <a:ext uri="{FF2B5EF4-FFF2-40B4-BE49-F238E27FC236}">
                  <a16:creationId xmlns:a16="http://schemas.microsoft.com/office/drawing/2014/main" id="{90AD48D2-5BC8-4C80-B126-B1A201242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27">
              <a:extLst>
                <a:ext uri="{FF2B5EF4-FFF2-40B4-BE49-F238E27FC236}">
                  <a16:creationId xmlns:a16="http://schemas.microsoft.com/office/drawing/2014/main" id="{BE14C82F-9F35-4D61-B758-7BCE32DEC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Freeform 28">
              <a:extLst>
                <a:ext uri="{FF2B5EF4-FFF2-40B4-BE49-F238E27FC236}">
                  <a16:creationId xmlns:a16="http://schemas.microsoft.com/office/drawing/2014/main" id="{6540CE06-9028-497A-AC64-CF0ED60A74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7" name="Freeform 29">
              <a:extLst>
                <a:ext uri="{FF2B5EF4-FFF2-40B4-BE49-F238E27FC236}">
                  <a16:creationId xmlns:a16="http://schemas.microsoft.com/office/drawing/2014/main" id="{A4825B3B-52CD-4F08-BA02-6C2B0EFED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30">
              <a:extLst>
                <a:ext uri="{FF2B5EF4-FFF2-40B4-BE49-F238E27FC236}">
                  <a16:creationId xmlns:a16="http://schemas.microsoft.com/office/drawing/2014/main" id="{6877A5EF-B8B8-44D3-AA57-4BBF89206D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31">
              <a:extLst>
                <a:ext uri="{FF2B5EF4-FFF2-40B4-BE49-F238E27FC236}">
                  <a16:creationId xmlns:a16="http://schemas.microsoft.com/office/drawing/2014/main" id="{00BB365C-9180-4208-92CF-AB6A88848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Freeform 32">
              <a:extLst>
                <a:ext uri="{FF2B5EF4-FFF2-40B4-BE49-F238E27FC236}">
                  <a16:creationId xmlns:a16="http://schemas.microsoft.com/office/drawing/2014/main" id="{8D1134D2-53A6-41D5-AC1A-5254A2FBD0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1" name="Rectangle 33">
              <a:extLst>
                <a:ext uri="{FF2B5EF4-FFF2-40B4-BE49-F238E27FC236}">
                  <a16:creationId xmlns:a16="http://schemas.microsoft.com/office/drawing/2014/main" id="{24C7FA73-07CD-479A-9B9E-DAD4D3B2BF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2" name="Freeform 34">
              <a:extLst>
                <a:ext uri="{FF2B5EF4-FFF2-40B4-BE49-F238E27FC236}">
                  <a16:creationId xmlns:a16="http://schemas.microsoft.com/office/drawing/2014/main" id="{AB24DF92-B081-4701-B58D-913261A00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3" name="Freeform 35">
              <a:extLst>
                <a:ext uri="{FF2B5EF4-FFF2-40B4-BE49-F238E27FC236}">
                  <a16:creationId xmlns:a16="http://schemas.microsoft.com/office/drawing/2014/main" id="{AB4DF275-6B82-4AA9-A7A9-138E631E3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36">
              <a:extLst>
                <a:ext uri="{FF2B5EF4-FFF2-40B4-BE49-F238E27FC236}">
                  <a16:creationId xmlns:a16="http://schemas.microsoft.com/office/drawing/2014/main" id="{972A3812-16AD-453E-B1E6-9F39894F7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37">
              <a:extLst>
                <a:ext uri="{FF2B5EF4-FFF2-40B4-BE49-F238E27FC236}">
                  <a16:creationId xmlns:a16="http://schemas.microsoft.com/office/drawing/2014/main" id="{8FB6759A-BAD8-4073-86A2-6DDD73DE2A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38">
              <a:extLst>
                <a:ext uri="{FF2B5EF4-FFF2-40B4-BE49-F238E27FC236}">
                  <a16:creationId xmlns:a16="http://schemas.microsoft.com/office/drawing/2014/main" id="{9FCCB0F4-1178-47C1-9EE2-234EA715C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39">
              <a:extLst>
                <a:ext uri="{FF2B5EF4-FFF2-40B4-BE49-F238E27FC236}">
                  <a16:creationId xmlns:a16="http://schemas.microsoft.com/office/drawing/2014/main" id="{CB01BF0B-7EB0-4C18-80BE-20D2EAC04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40">
              <a:extLst>
                <a:ext uri="{FF2B5EF4-FFF2-40B4-BE49-F238E27FC236}">
                  <a16:creationId xmlns:a16="http://schemas.microsoft.com/office/drawing/2014/main" id="{3266E9DA-C937-48E0-8F98-90A467760F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41">
              <a:extLst>
                <a:ext uri="{FF2B5EF4-FFF2-40B4-BE49-F238E27FC236}">
                  <a16:creationId xmlns:a16="http://schemas.microsoft.com/office/drawing/2014/main" id="{A8A9C00D-0425-4E68-A1DE-BCE5BD6BB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42">
              <a:extLst>
                <a:ext uri="{FF2B5EF4-FFF2-40B4-BE49-F238E27FC236}">
                  <a16:creationId xmlns:a16="http://schemas.microsoft.com/office/drawing/2014/main" id="{46230904-E744-4B55-84FF-826A6B737B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43">
              <a:extLst>
                <a:ext uri="{FF2B5EF4-FFF2-40B4-BE49-F238E27FC236}">
                  <a16:creationId xmlns:a16="http://schemas.microsoft.com/office/drawing/2014/main" id="{D4291668-8AF0-4784-BC06-870768F53F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2" name="Freeform 44">
              <a:extLst>
                <a:ext uri="{FF2B5EF4-FFF2-40B4-BE49-F238E27FC236}">
                  <a16:creationId xmlns:a16="http://schemas.microsoft.com/office/drawing/2014/main" id="{D917DCBD-774B-4AAF-92AE-D18289FFC4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3" name="Rectangle 45">
              <a:extLst>
                <a:ext uri="{FF2B5EF4-FFF2-40B4-BE49-F238E27FC236}">
                  <a16:creationId xmlns:a16="http://schemas.microsoft.com/office/drawing/2014/main" id="{9E50122E-0F19-4D65-9CB2-E22C3EA84A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54" name="Freeform 46">
              <a:extLst>
                <a:ext uri="{FF2B5EF4-FFF2-40B4-BE49-F238E27FC236}">
                  <a16:creationId xmlns:a16="http://schemas.microsoft.com/office/drawing/2014/main" id="{BC28A765-6E8B-4352-BD0C-35474F70A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5" name="Freeform 47">
              <a:extLst>
                <a:ext uri="{FF2B5EF4-FFF2-40B4-BE49-F238E27FC236}">
                  <a16:creationId xmlns:a16="http://schemas.microsoft.com/office/drawing/2014/main" id="{0AC30A17-F494-44EB-9817-1B8B255CE4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6" name="Freeform 48">
              <a:extLst>
                <a:ext uri="{FF2B5EF4-FFF2-40B4-BE49-F238E27FC236}">
                  <a16:creationId xmlns:a16="http://schemas.microsoft.com/office/drawing/2014/main" id="{6088D59F-32BD-4932-9C22-9AA0FCDA7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7" name="Freeform 49">
              <a:extLst>
                <a:ext uri="{FF2B5EF4-FFF2-40B4-BE49-F238E27FC236}">
                  <a16:creationId xmlns:a16="http://schemas.microsoft.com/office/drawing/2014/main" id="{B18BBE45-5F21-47FA-B291-AC802D715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8" name="Freeform 50">
              <a:extLst>
                <a:ext uri="{FF2B5EF4-FFF2-40B4-BE49-F238E27FC236}">
                  <a16:creationId xmlns:a16="http://schemas.microsoft.com/office/drawing/2014/main" id="{A1BD992D-1C4B-4E69-A627-A45D8958E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9" name="Freeform 51">
              <a:extLst>
                <a:ext uri="{FF2B5EF4-FFF2-40B4-BE49-F238E27FC236}">
                  <a16:creationId xmlns:a16="http://schemas.microsoft.com/office/drawing/2014/main" id="{571C0498-7105-455E-8B0A-233F850F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0" name="Freeform 52">
              <a:extLst>
                <a:ext uri="{FF2B5EF4-FFF2-40B4-BE49-F238E27FC236}">
                  <a16:creationId xmlns:a16="http://schemas.microsoft.com/office/drawing/2014/main" id="{F6FA78CC-C0B1-422F-B535-05580A971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1" name="Freeform 53">
              <a:extLst>
                <a:ext uri="{FF2B5EF4-FFF2-40B4-BE49-F238E27FC236}">
                  <a16:creationId xmlns:a16="http://schemas.microsoft.com/office/drawing/2014/main" id="{49A1BACF-EE5E-46F8-8968-D4CF18BC01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2" name="Freeform 54">
              <a:extLst>
                <a:ext uri="{FF2B5EF4-FFF2-40B4-BE49-F238E27FC236}">
                  <a16:creationId xmlns:a16="http://schemas.microsoft.com/office/drawing/2014/main" id="{0AF8DFAF-8AF7-453E-AED7-89E59FBD7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3" name="Freeform 55">
              <a:extLst>
                <a:ext uri="{FF2B5EF4-FFF2-40B4-BE49-F238E27FC236}">
                  <a16:creationId xmlns:a16="http://schemas.microsoft.com/office/drawing/2014/main" id="{F8C26D97-8DA4-4556-92E4-2AE66B36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4" name="Freeform 56">
              <a:extLst>
                <a:ext uri="{FF2B5EF4-FFF2-40B4-BE49-F238E27FC236}">
                  <a16:creationId xmlns:a16="http://schemas.microsoft.com/office/drawing/2014/main" id="{EEF9D855-A8A7-44CC-919C-BEA327F254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5" name="Freeform 57">
              <a:extLst>
                <a:ext uri="{FF2B5EF4-FFF2-40B4-BE49-F238E27FC236}">
                  <a16:creationId xmlns:a16="http://schemas.microsoft.com/office/drawing/2014/main" id="{11F0B045-803C-4067-A182-066EEB2C4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6" name="Freeform 58">
              <a:extLst>
                <a:ext uri="{FF2B5EF4-FFF2-40B4-BE49-F238E27FC236}">
                  <a16:creationId xmlns:a16="http://schemas.microsoft.com/office/drawing/2014/main" id="{3C1FCACB-EFEF-4B54-99A6-E327A637C2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258F49B1-7ABB-505A-245A-61420B133B76}"/>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4100"/>
              <a:t>UI view – predict employee stress - 1</a:t>
            </a:r>
          </a:p>
        </p:txBody>
      </p:sp>
      <p:sp>
        <p:nvSpPr>
          <p:cNvPr id="68" name="Round Diagonal Corner Rectangle 6">
            <a:extLst>
              <a:ext uri="{FF2B5EF4-FFF2-40B4-BE49-F238E27FC236}">
                <a16:creationId xmlns:a16="http://schemas.microsoft.com/office/drawing/2014/main" id="{8B3F5CD4-CBC8-4A22-9DCC-0420CA28A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90610A7-966A-C3A7-425A-897560EC97F4}"/>
              </a:ext>
            </a:extLst>
          </p:cNvPr>
          <p:cNvPicPr>
            <a:picLocks noChangeAspect="1"/>
          </p:cNvPicPr>
          <p:nvPr/>
        </p:nvPicPr>
        <p:blipFill>
          <a:blip r:embed="rId5"/>
          <a:srcRect l="10225" r="17664" b="-1"/>
          <a:stretch>
            <a:fillRect/>
          </a:stretch>
        </p:blipFill>
        <p:spPr>
          <a:xfrm>
            <a:off x="1118988" y="1136606"/>
            <a:ext cx="6112382" cy="4577297"/>
          </a:xfrm>
          <a:prstGeom prst="rect">
            <a:avLst/>
          </a:prstGeom>
        </p:spPr>
      </p:pic>
    </p:spTree>
    <p:extLst>
      <p:ext uri="{BB962C8B-B14F-4D97-AF65-F5344CB8AC3E}">
        <p14:creationId xmlns:p14="http://schemas.microsoft.com/office/powerpoint/2010/main" val="364253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C7198A-CD0D-47B2-84CD-5B686DE3C5F0}"/>
            </a:ext>
          </a:extLst>
        </p:cNvPr>
        <p:cNvGrpSpPr/>
        <p:nvPr/>
      </p:nvGrpSpPr>
      <p:grpSpPr>
        <a:xfrm>
          <a:off x="0" y="0"/>
          <a:ext cx="0" cy="0"/>
          <a:chOff x="0" y="0"/>
          <a:chExt cx="0" cy="0"/>
        </a:xfrm>
      </p:grpSpPr>
      <p:pic>
        <p:nvPicPr>
          <p:cNvPr id="11"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4"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69" name="Rectangle 68">
            <a:extLst>
              <a:ext uri="{FF2B5EF4-FFF2-40B4-BE49-F238E27FC236}">
                <a16:creationId xmlns:a16="http://schemas.microsoft.com/office/drawing/2014/main" id="{D706AE2E-B17B-43A3-84F8-9C0FE946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2003"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CEFFB8CF-3E94-42D7-849C-841E7744B2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72" name="Rectangle 5">
              <a:extLst>
                <a:ext uri="{FF2B5EF4-FFF2-40B4-BE49-F238E27FC236}">
                  <a16:creationId xmlns:a16="http://schemas.microsoft.com/office/drawing/2014/main" id="{C274DE9A-4502-4454-911E-B7FE9ED6DE3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3" name="Freeform 6">
              <a:extLst>
                <a:ext uri="{FF2B5EF4-FFF2-40B4-BE49-F238E27FC236}">
                  <a16:creationId xmlns:a16="http://schemas.microsoft.com/office/drawing/2014/main" id="{76AFCF59-7BED-416B-ACD9-EA099C9B29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7">
              <a:extLst>
                <a:ext uri="{FF2B5EF4-FFF2-40B4-BE49-F238E27FC236}">
                  <a16:creationId xmlns:a16="http://schemas.microsoft.com/office/drawing/2014/main" id="{8EEECEBC-B149-42E5-8164-EE5456F06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Rectangle 8">
              <a:extLst>
                <a:ext uri="{FF2B5EF4-FFF2-40B4-BE49-F238E27FC236}">
                  <a16:creationId xmlns:a16="http://schemas.microsoft.com/office/drawing/2014/main" id="{03B49256-D2D8-436B-8F29-0C7E53366F1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6" name="Freeform 9">
              <a:extLst>
                <a:ext uri="{FF2B5EF4-FFF2-40B4-BE49-F238E27FC236}">
                  <a16:creationId xmlns:a16="http://schemas.microsoft.com/office/drawing/2014/main" id="{4045E56F-B537-408E-B346-B9B15C39A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10">
              <a:extLst>
                <a:ext uri="{FF2B5EF4-FFF2-40B4-BE49-F238E27FC236}">
                  <a16:creationId xmlns:a16="http://schemas.microsoft.com/office/drawing/2014/main" id="{904BDB2F-0893-4AD7-A871-C808C9651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11">
              <a:extLst>
                <a:ext uri="{FF2B5EF4-FFF2-40B4-BE49-F238E27FC236}">
                  <a16:creationId xmlns:a16="http://schemas.microsoft.com/office/drawing/2014/main" id="{512D8C6F-C154-4928-9891-DDCF50DA6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12">
              <a:extLst>
                <a:ext uri="{FF2B5EF4-FFF2-40B4-BE49-F238E27FC236}">
                  <a16:creationId xmlns:a16="http://schemas.microsoft.com/office/drawing/2014/main" id="{7E2BBA63-D694-4AD5-976F-4F1CDB204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13">
              <a:extLst>
                <a:ext uri="{FF2B5EF4-FFF2-40B4-BE49-F238E27FC236}">
                  <a16:creationId xmlns:a16="http://schemas.microsoft.com/office/drawing/2014/main" id="{394F9847-4F95-42E8-AE7E-8DD8A0E2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14">
              <a:extLst>
                <a:ext uri="{FF2B5EF4-FFF2-40B4-BE49-F238E27FC236}">
                  <a16:creationId xmlns:a16="http://schemas.microsoft.com/office/drawing/2014/main" id="{48CE4CA3-085D-44AC-996B-9F347B7BC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15">
              <a:extLst>
                <a:ext uri="{FF2B5EF4-FFF2-40B4-BE49-F238E27FC236}">
                  <a16:creationId xmlns:a16="http://schemas.microsoft.com/office/drawing/2014/main" id="{0D7459AE-7E00-4707-B574-1D3636BB46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16">
              <a:extLst>
                <a:ext uri="{FF2B5EF4-FFF2-40B4-BE49-F238E27FC236}">
                  <a16:creationId xmlns:a16="http://schemas.microsoft.com/office/drawing/2014/main" id="{EF95E020-0C4A-4BD5-84BE-6DF8B8BCAB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17">
              <a:extLst>
                <a:ext uri="{FF2B5EF4-FFF2-40B4-BE49-F238E27FC236}">
                  <a16:creationId xmlns:a16="http://schemas.microsoft.com/office/drawing/2014/main" id="{18CC4862-B9BB-4E63-9630-AA5241E68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18">
              <a:extLst>
                <a:ext uri="{FF2B5EF4-FFF2-40B4-BE49-F238E27FC236}">
                  <a16:creationId xmlns:a16="http://schemas.microsoft.com/office/drawing/2014/main" id="{156A0508-DDAB-4BFB-824D-CA9D3D833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19">
              <a:extLst>
                <a:ext uri="{FF2B5EF4-FFF2-40B4-BE49-F238E27FC236}">
                  <a16:creationId xmlns:a16="http://schemas.microsoft.com/office/drawing/2014/main" id="{E3B0103B-60DE-4385-B84E-53694FB9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20">
              <a:extLst>
                <a:ext uri="{FF2B5EF4-FFF2-40B4-BE49-F238E27FC236}">
                  <a16:creationId xmlns:a16="http://schemas.microsoft.com/office/drawing/2014/main" id="{C8C1C0D4-C36E-4251-A97F-436AFA3797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21">
              <a:extLst>
                <a:ext uri="{FF2B5EF4-FFF2-40B4-BE49-F238E27FC236}">
                  <a16:creationId xmlns:a16="http://schemas.microsoft.com/office/drawing/2014/main" id="{550D7341-7849-4B72-A2D7-68B7161D43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Freeform 22">
              <a:extLst>
                <a:ext uri="{FF2B5EF4-FFF2-40B4-BE49-F238E27FC236}">
                  <a16:creationId xmlns:a16="http://schemas.microsoft.com/office/drawing/2014/main" id="{C9E742C7-3FF2-4931-B087-46AAA6C33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0" name="Freeform 23">
              <a:extLst>
                <a:ext uri="{FF2B5EF4-FFF2-40B4-BE49-F238E27FC236}">
                  <a16:creationId xmlns:a16="http://schemas.microsoft.com/office/drawing/2014/main" id="{424AF1DB-9264-4B94-9F0D-EF37F12D4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24">
              <a:extLst>
                <a:ext uri="{FF2B5EF4-FFF2-40B4-BE49-F238E27FC236}">
                  <a16:creationId xmlns:a16="http://schemas.microsoft.com/office/drawing/2014/main" id="{766E43D2-CF93-4468-9B12-FFB234513D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25">
              <a:extLst>
                <a:ext uri="{FF2B5EF4-FFF2-40B4-BE49-F238E27FC236}">
                  <a16:creationId xmlns:a16="http://schemas.microsoft.com/office/drawing/2014/main" id="{AC24EC38-E0E5-4A4E-A64D-359DD4A55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26">
              <a:extLst>
                <a:ext uri="{FF2B5EF4-FFF2-40B4-BE49-F238E27FC236}">
                  <a16:creationId xmlns:a16="http://schemas.microsoft.com/office/drawing/2014/main" id="{338D8FE1-6073-44CF-857C-9273A16075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27">
              <a:extLst>
                <a:ext uri="{FF2B5EF4-FFF2-40B4-BE49-F238E27FC236}">
                  <a16:creationId xmlns:a16="http://schemas.microsoft.com/office/drawing/2014/main" id="{39BAF819-1ABF-4754-B2E6-8C023A3B9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5" name="Freeform 28">
              <a:extLst>
                <a:ext uri="{FF2B5EF4-FFF2-40B4-BE49-F238E27FC236}">
                  <a16:creationId xmlns:a16="http://schemas.microsoft.com/office/drawing/2014/main" id="{2B5FE77A-C8CA-4E0E-BA89-53BA982E6A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6" name="Freeform 29">
              <a:extLst>
                <a:ext uri="{FF2B5EF4-FFF2-40B4-BE49-F238E27FC236}">
                  <a16:creationId xmlns:a16="http://schemas.microsoft.com/office/drawing/2014/main" id="{264169FF-BB01-4F56-812A-738BE4AAC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7" name="Freeform 30">
              <a:extLst>
                <a:ext uri="{FF2B5EF4-FFF2-40B4-BE49-F238E27FC236}">
                  <a16:creationId xmlns:a16="http://schemas.microsoft.com/office/drawing/2014/main" id="{831BA8DD-49DA-443B-AD7A-1680CD2875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31">
              <a:extLst>
                <a:ext uri="{FF2B5EF4-FFF2-40B4-BE49-F238E27FC236}">
                  <a16:creationId xmlns:a16="http://schemas.microsoft.com/office/drawing/2014/main" id="{15B5FD47-B408-4DD0-BA9C-76C3F6814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32">
              <a:extLst>
                <a:ext uri="{FF2B5EF4-FFF2-40B4-BE49-F238E27FC236}">
                  <a16:creationId xmlns:a16="http://schemas.microsoft.com/office/drawing/2014/main" id="{2432FB6B-FBB2-438F-A3BC-0392CA944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Rectangle 33">
              <a:extLst>
                <a:ext uri="{FF2B5EF4-FFF2-40B4-BE49-F238E27FC236}">
                  <a16:creationId xmlns:a16="http://schemas.microsoft.com/office/drawing/2014/main" id="{A9E1CA69-4810-4E1D-A227-EA4EF0151F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01" name="Freeform 34">
              <a:extLst>
                <a:ext uri="{FF2B5EF4-FFF2-40B4-BE49-F238E27FC236}">
                  <a16:creationId xmlns:a16="http://schemas.microsoft.com/office/drawing/2014/main" id="{978653C5-EFDF-4617-9A6A-E810A9C22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2" name="Freeform 35">
              <a:extLst>
                <a:ext uri="{FF2B5EF4-FFF2-40B4-BE49-F238E27FC236}">
                  <a16:creationId xmlns:a16="http://schemas.microsoft.com/office/drawing/2014/main" id="{F1B9F231-1E6A-4122-81B0-043E2A5F5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3" name="Freeform 36">
              <a:extLst>
                <a:ext uri="{FF2B5EF4-FFF2-40B4-BE49-F238E27FC236}">
                  <a16:creationId xmlns:a16="http://schemas.microsoft.com/office/drawing/2014/main" id="{DF2B6BD0-0057-43BC-8681-9FAC9FC53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37">
              <a:extLst>
                <a:ext uri="{FF2B5EF4-FFF2-40B4-BE49-F238E27FC236}">
                  <a16:creationId xmlns:a16="http://schemas.microsoft.com/office/drawing/2014/main" id="{6D7D7117-2276-4EB9-882B-A44A2DB066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38">
              <a:extLst>
                <a:ext uri="{FF2B5EF4-FFF2-40B4-BE49-F238E27FC236}">
                  <a16:creationId xmlns:a16="http://schemas.microsoft.com/office/drawing/2014/main" id="{98AD68EB-6444-4B28-8F06-C0B6111A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39">
              <a:extLst>
                <a:ext uri="{FF2B5EF4-FFF2-40B4-BE49-F238E27FC236}">
                  <a16:creationId xmlns:a16="http://schemas.microsoft.com/office/drawing/2014/main" id="{438FA125-C459-48A2-913F-F5D04E160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Freeform 40">
              <a:extLst>
                <a:ext uri="{FF2B5EF4-FFF2-40B4-BE49-F238E27FC236}">
                  <a16:creationId xmlns:a16="http://schemas.microsoft.com/office/drawing/2014/main" id="{18E796D1-6480-436F-947D-550CCE516E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8" name="Freeform 41">
              <a:extLst>
                <a:ext uri="{FF2B5EF4-FFF2-40B4-BE49-F238E27FC236}">
                  <a16:creationId xmlns:a16="http://schemas.microsoft.com/office/drawing/2014/main" id="{4549B300-4F89-4E35-B5E7-53E3C6A5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9" name="Freeform 42">
              <a:extLst>
                <a:ext uri="{FF2B5EF4-FFF2-40B4-BE49-F238E27FC236}">
                  <a16:creationId xmlns:a16="http://schemas.microsoft.com/office/drawing/2014/main" id="{D8DA6C40-62DD-4FB3-8D06-5A599E3823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43">
              <a:extLst>
                <a:ext uri="{FF2B5EF4-FFF2-40B4-BE49-F238E27FC236}">
                  <a16:creationId xmlns:a16="http://schemas.microsoft.com/office/drawing/2014/main" id="{28EE2B35-9D3D-4925-8DA9-9DF0E40BC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44">
              <a:extLst>
                <a:ext uri="{FF2B5EF4-FFF2-40B4-BE49-F238E27FC236}">
                  <a16:creationId xmlns:a16="http://schemas.microsoft.com/office/drawing/2014/main" id="{9DB82611-4043-4758-81EC-2239619803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Rectangle 45">
              <a:extLst>
                <a:ext uri="{FF2B5EF4-FFF2-40B4-BE49-F238E27FC236}">
                  <a16:creationId xmlns:a16="http://schemas.microsoft.com/office/drawing/2014/main" id="{A8210AB3-0776-4F74-9227-5E448D1AFA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13" name="Freeform 46">
              <a:extLst>
                <a:ext uri="{FF2B5EF4-FFF2-40B4-BE49-F238E27FC236}">
                  <a16:creationId xmlns:a16="http://schemas.microsoft.com/office/drawing/2014/main" id="{002C10AB-E300-481E-AFA5-410481B1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4" name="Freeform 47">
              <a:extLst>
                <a:ext uri="{FF2B5EF4-FFF2-40B4-BE49-F238E27FC236}">
                  <a16:creationId xmlns:a16="http://schemas.microsoft.com/office/drawing/2014/main" id="{11F47C5E-0453-4EF5-B969-A8263DC6AF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5" name="Freeform 48">
              <a:extLst>
                <a:ext uri="{FF2B5EF4-FFF2-40B4-BE49-F238E27FC236}">
                  <a16:creationId xmlns:a16="http://schemas.microsoft.com/office/drawing/2014/main" id="{D0CFDC87-55E8-40E1-BD98-4E1EA2C09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6" name="Freeform 49">
              <a:extLst>
                <a:ext uri="{FF2B5EF4-FFF2-40B4-BE49-F238E27FC236}">
                  <a16:creationId xmlns:a16="http://schemas.microsoft.com/office/drawing/2014/main" id="{C1151505-8A7F-41D8-AE03-AD172E38C0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7" name="Freeform 50">
              <a:extLst>
                <a:ext uri="{FF2B5EF4-FFF2-40B4-BE49-F238E27FC236}">
                  <a16:creationId xmlns:a16="http://schemas.microsoft.com/office/drawing/2014/main" id="{918DAD20-1F9F-41A7-B9D0-EE92F9B32D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8" name="Freeform 51">
              <a:extLst>
                <a:ext uri="{FF2B5EF4-FFF2-40B4-BE49-F238E27FC236}">
                  <a16:creationId xmlns:a16="http://schemas.microsoft.com/office/drawing/2014/main" id="{D303B51B-ADCC-43C9-AE4F-0168CFA63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9" name="Freeform 52">
              <a:extLst>
                <a:ext uri="{FF2B5EF4-FFF2-40B4-BE49-F238E27FC236}">
                  <a16:creationId xmlns:a16="http://schemas.microsoft.com/office/drawing/2014/main" id="{5621B409-0B0A-4827-81F9-684C335EE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0" name="Freeform 53">
              <a:extLst>
                <a:ext uri="{FF2B5EF4-FFF2-40B4-BE49-F238E27FC236}">
                  <a16:creationId xmlns:a16="http://schemas.microsoft.com/office/drawing/2014/main" id="{FCA6910E-A4EC-464B-B285-5F1E40AEF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1" name="Freeform 54">
              <a:extLst>
                <a:ext uri="{FF2B5EF4-FFF2-40B4-BE49-F238E27FC236}">
                  <a16:creationId xmlns:a16="http://schemas.microsoft.com/office/drawing/2014/main" id="{7D0C75DF-4953-4E72-B34A-2F8BD0523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2" name="Freeform 55">
              <a:extLst>
                <a:ext uri="{FF2B5EF4-FFF2-40B4-BE49-F238E27FC236}">
                  <a16:creationId xmlns:a16="http://schemas.microsoft.com/office/drawing/2014/main" id="{998A65EA-C434-41FF-B792-2BDC1150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3" name="Freeform 56">
              <a:extLst>
                <a:ext uri="{FF2B5EF4-FFF2-40B4-BE49-F238E27FC236}">
                  <a16:creationId xmlns:a16="http://schemas.microsoft.com/office/drawing/2014/main" id="{3A6D2AE4-7ABD-4946-BE69-5FD3C1A1D6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4" name="Freeform 57">
              <a:extLst>
                <a:ext uri="{FF2B5EF4-FFF2-40B4-BE49-F238E27FC236}">
                  <a16:creationId xmlns:a16="http://schemas.microsoft.com/office/drawing/2014/main" id="{833A81DC-8A3A-4141-A713-A2FE1C572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5" name="Freeform 58">
              <a:extLst>
                <a:ext uri="{FF2B5EF4-FFF2-40B4-BE49-F238E27FC236}">
                  <a16:creationId xmlns:a16="http://schemas.microsoft.com/office/drawing/2014/main" id="{47BB7FFD-57DB-41BD-8D42-9FB58174B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127" name="Picture 2">
            <a:extLst>
              <a:ext uri="{FF2B5EF4-FFF2-40B4-BE49-F238E27FC236}">
                <a16:creationId xmlns:a16="http://schemas.microsoft.com/office/drawing/2014/main" id="{3631D3C9-4C1D-4B3A-A737-E6E7800424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CFF4E02-2523-B3DD-C7DC-AAC5AAD072E4}"/>
              </a:ext>
            </a:extLst>
          </p:cNvPr>
          <p:cNvSpPr>
            <a:spLocks noGrp="1"/>
          </p:cNvSpPr>
          <p:nvPr>
            <p:ph type="title"/>
          </p:nvPr>
        </p:nvSpPr>
        <p:spPr>
          <a:xfrm>
            <a:off x="8057397" y="1113282"/>
            <a:ext cx="3489569" cy="2396681"/>
          </a:xfrm>
        </p:spPr>
        <p:txBody>
          <a:bodyPr vert="horz" lIns="91440" tIns="45720" rIns="91440" bIns="45720" rtlCol="0" anchor="b">
            <a:normAutofit/>
          </a:bodyPr>
          <a:lstStyle/>
          <a:p>
            <a:r>
              <a:rPr lang="en-US" sz="4100">
                <a:solidFill>
                  <a:srgbClr val="FFFFFF"/>
                </a:solidFill>
              </a:rPr>
              <a:t>UI view – predict employee stress - 2</a:t>
            </a:r>
          </a:p>
        </p:txBody>
      </p:sp>
      <p:sp useBgFill="1">
        <p:nvSpPr>
          <p:cNvPr id="129" name="Round Diagonal Corner Rectangle 6">
            <a:extLst>
              <a:ext uri="{FF2B5EF4-FFF2-40B4-BE49-F238E27FC236}">
                <a16:creationId xmlns:a16="http://schemas.microsoft.com/office/drawing/2014/main" id="{5B986EF0-8540-483D-9DDE-1F168FAAC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10D362E-CA80-7F42-534A-5F79FD87C0C4}"/>
              </a:ext>
            </a:extLst>
          </p:cNvPr>
          <p:cNvPicPr>
            <a:picLocks noChangeAspect="1"/>
          </p:cNvPicPr>
          <p:nvPr/>
        </p:nvPicPr>
        <p:blipFill>
          <a:blip r:embed="rId4"/>
          <a:stretch>
            <a:fillRect/>
          </a:stretch>
        </p:blipFill>
        <p:spPr>
          <a:xfrm>
            <a:off x="798946" y="1474402"/>
            <a:ext cx="6752460" cy="3663209"/>
          </a:xfrm>
          <a:prstGeom prst="rect">
            <a:avLst/>
          </a:prstGeom>
        </p:spPr>
      </p:pic>
    </p:spTree>
    <p:extLst>
      <p:ext uri="{BB962C8B-B14F-4D97-AF65-F5344CB8AC3E}">
        <p14:creationId xmlns:p14="http://schemas.microsoft.com/office/powerpoint/2010/main" val="117444403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B31B1-6BD6-ABAE-8F80-2E6F08091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AD130-48B5-2C69-820B-D64E8EA314C0}"/>
              </a:ext>
            </a:extLst>
          </p:cNvPr>
          <p:cNvSpPr>
            <a:spLocks noGrp="1"/>
          </p:cNvSpPr>
          <p:nvPr>
            <p:ph type="title"/>
          </p:nvPr>
        </p:nvSpPr>
        <p:spPr/>
        <p:txBody>
          <a:bodyPr/>
          <a:lstStyle/>
          <a:p>
            <a:r>
              <a:rPr lang="en-US" dirty="0"/>
              <a:t>Challenges faced</a:t>
            </a:r>
          </a:p>
        </p:txBody>
      </p:sp>
      <p:sp>
        <p:nvSpPr>
          <p:cNvPr id="3" name="Content Placeholder 2">
            <a:extLst>
              <a:ext uri="{FF2B5EF4-FFF2-40B4-BE49-F238E27FC236}">
                <a16:creationId xmlns:a16="http://schemas.microsoft.com/office/drawing/2014/main" id="{B0218C1A-98B6-3594-732C-64717B3BC1B7}"/>
              </a:ext>
            </a:extLst>
          </p:cNvPr>
          <p:cNvSpPr>
            <a:spLocks noGrp="1"/>
          </p:cNvSpPr>
          <p:nvPr>
            <p:ph idx="1"/>
          </p:nvPr>
        </p:nvSpPr>
        <p:spPr/>
        <p:txBody>
          <a:bodyPr/>
          <a:lstStyle/>
          <a:p>
            <a:r>
              <a:rPr lang="en-IN" dirty="0"/>
              <a:t>At first, I depended too much on AI tools without fully understanding the logic.</a:t>
            </a:r>
          </a:p>
          <a:p>
            <a:r>
              <a:rPr lang="en-IN" dirty="0"/>
              <a:t>It was hard to choose features and models that really made sense for the problem.</a:t>
            </a:r>
          </a:p>
          <a:p>
            <a:r>
              <a:rPr lang="en-IN" dirty="0"/>
              <a:t>Making the </a:t>
            </a:r>
            <a:r>
              <a:rPr lang="en-IN" dirty="0" err="1"/>
              <a:t>Streamlit</a:t>
            </a:r>
            <a:r>
              <a:rPr lang="en-IN" dirty="0"/>
              <a:t> app user-friendly took time and many improvements.</a:t>
            </a:r>
          </a:p>
          <a:p>
            <a:r>
              <a:rPr lang="en-IN" dirty="0"/>
              <a:t>The dataset was synthetic, so finding real patterns was tricky.</a:t>
            </a:r>
          </a:p>
          <a:p>
            <a:r>
              <a:rPr lang="en-IN" dirty="0"/>
              <a:t>I had to make sure my tool was easy to use for non-technical people.</a:t>
            </a:r>
          </a:p>
        </p:txBody>
      </p:sp>
    </p:spTree>
    <p:extLst>
      <p:ext uri="{BB962C8B-B14F-4D97-AF65-F5344CB8AC3E}">
        <p14:creationId xmlns:p14="http://schemas.microsoft.com/office/powerpoint/2010/main" val="3249190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E0A3D-4FA1-7A87-324E-3A927383F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EF435-468F-486D-603B-CE5DA2E16F66}"/>
              </a:ext>
            </a:extLst>
          </p:cNvPr>
          <p:cNvSpPr>
            <a:spLocks noGrp="1"/>
          </p:cNvSpPr>
          <p:nvPr>
            <p:ph type="title"/>
          </p:nvPr>
        </p:nvSpPr>
        <p:spPr/>
        <p:txBody>
          <a:bodyPr/>
          <a:lstStyle/>
          <a:p>
            <a:r>
              <a:rPr lang="en-US" dirty="0"/>
              <a:t>learnings</a:t>
            </a:r>
          </a:p>
        </p:txBody>
      </p:sp>
      <p:sp>
        <p:nvSpPr>
          <p:cNvPr id="3" name="Content Placeholder 2">
            <a:extLst>
              <a:ext uri="{FF2B5EF4-FFF2-40B4-BE49-F238E27FC236}">
                <a16:creationId xmlns:a16="http://schemas.microsoft.com/office/drawing/2014/main" id="{E9257813-9C8A-2A12-3923-A7A39A9EFE7F}"/>
              </a:ext>
            </a:extLst>
          </p:cNvPr>
          <p:cNvSpPr>
            <a:spLocks noGrp="1"/>
          </p:cNvSpPr>
          <p:nvPr>
            <p:ph idx="1"/>
          </p:nvPr>
        </p:nvSpPr>
        <p:spPr/>
        <p:txBody>
          <a:bodyPr/>
          <a:lstStyle/>
          <a:p>
            <a:r>
              <a:rPr lang="en-IN" dirty="0"/>
              <a:t>I learned how to build a full machine learning project from start to end.</a:t>
            </a:r>
          </a:p>
          <a:p>
            <a:r>
              <a:rPr lang="en-IN" dirty="0"/>
              <a:t>I used </a:t>
            </a:r>
            <a:r>
              <a:rPr lang="en-IN" dirty="0" err="1"/>
              <a:t>Streamlit</a:t>
            </a:r>
            <a:r>
              <a:rPr lang="en-IN" dirty="0"/>
              <a:t> to turn my code into a working app anyone can try.</a:t>
            </a:r>
          </a:p>
          <a:p>
            <a:r>
              <a:rPr lang="en-IN" dirty="0"/>
              <a:t>I got better at understanding how data and mental health are related.</a:t>
            </a:r>
          </a:p>
          <a:p>
            <a:r>
              <a:rPr lang="en-IN" dirty="0"/>
              <a:t>I now see the importance of using AI carefully, especially for topics about people’s lives.</a:t>
            </a:r>
          </a:p>
        </p:txBody>
      </p:sp>
    </p:spTree>
    <p:extLst>
      <p:ext uri="{BB962C8B-B14F-4D97-AF65-F5344CB8AC3E}">
        <p14:creationId xmlns:p14="http://schemas.microsoft.com/office/powerpoint/2010/main" val="3656756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1581-4680-FEDB-276E-67D6C39EAD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75325-459D-24BB-E8FE-80FFB27FDDF0}"/>
              </a:ext>
            </a:extLst>
          </p:cNvPr>
          <p:cNvSpPr>
            <a:spLocks noGrp="1"/>
          </p:cNvSpPr>
          <p:nvPr>
            <p:ph type="title"/>
          </p:nvPr>
        </p:nvSpPr>
        <p:spPr/>
        <p:txBody>
          <a:bodyPr/>
          <a:lstStyle/>
          <a:p>
            <a:r>
              <a:rPr lang="en-US" dirty="0"/>
              <a:t>Conclusion and future work</a:t>
            </a:r>
          </a:p>
        </p:txBody>
      </p:sp>
      <p:sp>
        <p:nvSpPr>
          <p:cNvPr id="3" name="Content Placeholder 2">
            <a:extLst>
              <a:ext uri="{FF2B5EF4-FFF2-40B4-BE49-F238E27FC236}">
                <a16:creationId xmlns:a16="http://schemas.microsoft.com/office/drawing/2014/main" id="{90A6F983-70B1-C91C-F829-800BD5EA0E7A}"/>
              </a:ext>
            </a:extLst>
          </p:cNvPr>
          <p:cNvSpPr>
            <a:spLocks noGrp="1"/>
          </p:cNvSpPr>
          <p:nvPr>
            <p:ph idx="1"/>
          </p:nvPr>
        </p:nvSpPr>
        <p:spPr/>
        <p:txBody>
          <a:bodyPr/>
          <a:lstStyle/>
          <a:p>
            <a:r>
              <a:rPr lang="en-IN" dirty="0"/>
              <a:t>Tool successfully predicts mental health risk using user inputs</a:t>
            </a:r>
          </a:p>
          <a:p>
            <a:r>
              <a:rPr lang="en-IN" dirty="0"/>
              <a:t>Adds value by presenting results visually and interactively</a:t>
            </a:r>
          </a:p>
          <a:p>
            <a:r>
              <a:rPr lang="en-IN" dirty="0"/>
              <a:t>Can be extended to include time-series tracking or broader datasets</a:t>
            </a:r>
          </a:p>
          <a:p>
            <a:r>
              <a:rPr lang="en-IN" dirty="0"/>
              <a:t>Future scope: Add feedback loop or mental health resource links</a:t>
            </a:r>
          </a:p>
          <a:p>
            <a:pPr marL="0" indent="0">
              <a:buNone/>
            </a:pPr>
            <a:endParaRPr lang="en-US" dirty="0"/>
          </a:p>
        </p:txBody>
      </p:sp>
    </p:spTree>
    <p:extLst>
      <p:ext uri="{BB962C8B-B14F-4D97-AF65-F5344CB8AC3E}">
        <p14:creationId xmlns:p14="http://schemas.microsoft.com/office/powerpoint/2010/main" val="3718341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20160-0CDD-08DC-80B0-B92694871519}"/>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206816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382</TotalTime>
  <Words>2363</Words>
  <Application>Microsoft Macintosh PowerPoint</Application>
  <PresentationFormat>Widescreen</PresentationFormat>
  <Paragraphs>126</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Tw Cen MT</vt:lpstr>
      <vt:lpstr>Circuit</vt:lpstr>
      <vt:lpstr>Impact of Remote Work on Mental Health</vt:lpstr>
      <vt:lpstr>Project overview</vt:lpstr>
      <vt:lpstr>problem</vt:lpstr>
      <vt:lpstr>Data description</vt:lpstr>
      <vt:lpstr>EDA and key insights</vt:lpstr>
      <vt:lpstr>EDA and key insights - features</vt:lpstr>
      <vt:lpstr>EDA and key insights - Correlation Heatmap (Numerical Variables)</vt:lpstr>
      <vt:lpstr>EDA and key insights – TARGET VARIABLE Distribution</vt:lpstr>
      <vt:lpstr>Note: About the Dataset</vt:lpstr>
      <vt:lpstr>Model development</vt:lpstr>
      <vt:lpstr>Model development – Feature importance LightGBM</vt:lpstr>
      <vt:lpstr>Streamlit app features</vt:lpstr>
      <vt:lpstr>UI view - homepage</vt:lpstr>
      <vt:lpstr>UI view – predict employee stress - 1</vt:lpstr>
      <vt:lpstr>UI view – predict employee stress - 2</vt:lpstr>
      <vt:lpstr>Challenges faced</vt:lpstr>
      <vt:lpstr>learnings</vt:lpstr>
      <vt:lpstr>Conclusion and 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Ashish {PEP}</dc:creator>
  <cp:lastModifiedBy>Kumar, Ashish {PEP}</cp:lastModifiedBy>
  <cp:revision>6</cp:revision>
  <dcterms:created xsi:type="dcterms:W3CDTF">2025-06-22T07:33:59Z</dcterms:created>
  <dcterms:modified xsi:type="dcterms:W3CDTF">2025-06-22T13:56:23Z</dcterms:modified>
</cp:coreProperties>
</file>