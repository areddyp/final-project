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5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00"/>
    <p:restoredTop sz="94657"/>
  </p:normalViewPr>
  <p:slideViewPr>
    <p:cSldViewPr snapToGrid="0">
      <p:cViewPr varScale="1">
        <p:scale>
          <a:sx n="166" d="100"/>
          <a:sy n="166" d="100"/>
        </p:scale>
        <p:origin x="208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e3f537dc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e3f537dc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e3f537dc65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e3f537dc65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e3f537dc65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e3f537dc65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e3f537dc65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e3f537dc65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>
          <a:extLst>
            <a:ext uri="{FF2B5EF4-FFF2-40B4-BE49-F238E27FC236}">
              <a16:creationId xmlns:a16="http://schemas.microsoft.com/office/drawing/2014/main" id="{4F11FA51-5B09-DFE6-F23A-AC09BA82B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e3f537dc65_0_16:notes">
            <a:extLst>
              <a:ext uri="{FF2B5EF4-FFF2-40B4-BE49-F238E27FC236}">
                <a16:creationId xmlns:a16="http://schemas.microsoft.com/office/drawing/2014/main" id="{0C0AC0F2-D01F-B54A-82F9-F63F81B562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e3f537dc65_0_16:notes">
            <a:extLst>
              <a:ext uri="{FF2B5EF4-FFF2-40B4-BE49-F238E27FC236}">
                <a16:creationId xmlns:a16="http://schemas.microsoft.com/office/drawing/2014/main" id="{76ED30F7-308A-82FB-9DBC-499023CA25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1854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e3f537dc65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e3f537dc65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e3f537dc65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e3f537dc65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orbes.com/councils/forbestechcouncil/2022/08/09/burnout-is-real-its-time-to-change-the-way-people-work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mckinsey.com/industries/healthcare/our-insights/mental-health-in-the-workplace-the-coming-revolution" TargetMode="External"/><Relationship Id="rId4" Type="http://schemas.openxmlformats.org/officeDocument/2006/relationships/hyperlink" Target="https://ui.adsabs.harvard.edu/abs/2022IJDRR..7903174X/abstract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waqi786/remote-work-and-mental-health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dirty="0"/>
              <a:t>The Impact of Remote Work on Mental Health: A Data-Driven Tool for Early Stress Detection</a:t>
            </a:r>
            <a:endParaRPr sz="3600"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9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/>
            <a:r>
              <a:rPr lang="en-IN" sz="1800" dirty="0">
                <a:solidFill>
                  <a:schemeClr val="dk1"/>
                </a:solidFill>
              </a:rPr>
              <a:t>By: Abhilash Reddy</a:t>
            </a:r>
            <a:endParaRPr lang="en" sz="1800"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</a:rPr>
              <a:t>Regis University - MSDS696 - Data Science Practicum II</a:t>
            </a:r>
            <a:endParaRPr sz="1800"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</a:rPr>
              <a:t>Instructor: John Koenig</a:t>
            </a:r>
            <a:endParaRPr sz="1400" dirty="0">
              <a:solidFill>
                <a:schemeClr val="dk1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46300" y="156650"/>
            <a:ext cx="701325" cy="70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Problem or Situation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Research Question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Data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Proposed Methodology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Project Timeline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 dirty="0"/>
              <a:t>Problem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IN" b="1" dirty="0">
                <a:solidFill>
                  <a:schemeClr val="tx1"/>
                </a:solidFill>
              </a:rPr>
              <a:t>Post-COVID Work Culture Shift &amp; Mental Health Crisis</a:t>
            </a:r>
            <a:endParaRPr lang="en-IN" dirty="0">
              <a:solidFill>
                <a:schemeClr val="tx1"/>
              </a:solidFill>
            </a:endParaRPr>
          </a:p>
          <a:p>
            <a:pPr lvl="1"/>
            <a:r>
              <a:rPr lang="en-IN" dirty="0">
                <a:solidFill>
                  <a:schemeClr val="tx1"/>
                </a:solidFill>
              </a:rPr>
              <a:t>The pandemic led to a dramatic shift to remote work.</a:t>
            </a:r>
          </a:p>
          <a:p>
            <a:pPr lvl="1"/>
            <a:r>
              <a:rPr lang="en-IN" dirty="0">
                <a:solidFill>
                  <a:schemeClr val="tx1"/>
                </a:solidFill>
              </a:rPr>
              <a:t>Studies show increased stress, isolation, and burnout among remote workers.</a:t>
            </a:r>
          </a:p>
          <a:p>
            <a:pPr lvl="1"/>
            <a:r>
              <a:rPr lang="en-IN" dirty="0">
                <a:solidFill>
                  <a:schemeClr val="tx1"/>
                </a:solidFill>
              </a:rPr>
              <a:t>HR managers struggle to proactively identify mental health issues.</a:t>
            </a:r>
          </a:p>
          <a:p>
            <a:r>
              <a:rPr lang="en-IN" b="1" dirty="0">
                <a:solidFill>
                  <a:schemeClr val="tx1"/>
                </a:solidFill>
              </a:rPr>
              <a:t>Key Articles Highlighting the Problem:</a:t>
            </a:r>
            <a:endParaRPr lang="en-IN" dirty="0">
              <a:solidFill>
                <a:schemeClr val="tx1"/>
              </a:solidFill>
            </a:endParaRPr>
          </a:p>
          <a:p>
            <a:pPr lvl="1"/>
            <a:r>
              <a:rPr lang="en-IN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Forbes: “Remote Work Burnout is Real”</a:t>
            </a:r>
            <a:endParaRPr lang="en-IN" dirty="0">
              <a:solidFill>
                <a:schemeClr val="tx1"/>
              </a:solidFill>
            </a:endParaRPr>
          </a:p>
          <a:p>
            <a:pPr lvl="1"/>
            <a:r>
              <a:rPr lang="en-IN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Harvard Business Review: “The Dark Side of Remote Work”</a:t>
            </a:r>
            <a:endParaRPr lang="en-IN" dirty="0">
              <a:solidFill>
                <a:schemeClr val="tx1"/>
              </a:solidFill>
            </a:endParaRPr>
          </a:p>
          <a:p>
            <a:pPr lvl="1"/>
            <a:r>
              <a:rPr lang="en-IN" dirty="0">
                <a:solidFill>
                  <a:schemeClr val="tx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McKinsey: “Mental Health in the Workplace”</a:t>
            </a:r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Question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Clr>
                <a:schemeClr val="tx1"/>
              </a:buClr>
            </a:pPr>
            <a:r>
              <a:rPr lang="en-IN" dirty="0">
                <a:solidFill>
                  <a:schemeClr val="tx1"/>
                </a:solidFill>
              </a:rPr>
              <a:t>How can we use machine learning and sentiment analysis to assess remote employee mental health and provide actionable recommendations to HR or end-users in a user-friendly tool?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62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IN" b="1" dirty="0">
                <a:solidFill>
                  <a:schemeClr val="tx1"/>
                </a:solidFill>
              </a:rPr>
              <a:t>Dataset:</a:t>
            </a:r>
            <a:endParaRPr lang="en-IN" dirty="0">
              <a:solidFill>
                <a:schemeClr val="tx1"/>
              </a:solidFill>
            </a:endParaRPr>
          </a:p>
          <a:p>
            <a:pPr lvl="1"/>
            <a:r>
              <a:rPr lang="en-IN" dirty="0">
                <a:solidFill>
                  <a:schemeClr val="tx1"/>
                </a:solidFill>
              </a:rPr>
              <a:t>Source: </a:t>
            </a:r>
            <a:r>
              <a:rPr lang="en-IN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Kaggle – Remote Work and Mental Health</a:t>
            </a:r>
            <a:endParaRPr lang="en-IN" dirty="0">
              <a:solidFill>
                <a:schemeClr val="tx1"/>
              </a:solidFill>
            </a:endParaRPr>
          </a:p>
          <a:p>
            <a:pPr lvl="1"/>
            <a:r>
              <a:rPr lang="en-IN" dirty="0">
                <a:solidFill>
                  <a:schemeClr val="tx1"/>
                </a:solidFill>
              </a:rPr>
              <a:t>Format: Tabular CSV</a:t>
            </a:r>
          </a:p>
          <a:p>
            <a:pPr lvl="1"/>
            <a:r>
              <a:rPr lang="en-IN" dirty="0">
                <a:solidFill>
                  <a:schemeClr val="tx1"/>
                </a:solidFill>
              </a:rPr>
              <a:t>Number of records: ~1000+ employee responses</a:t>
            </a:r>
          </a:p>
          <a:p>
            <a:pPr lvl="1"/>
            <a:r>
              <a:rPr lang="en-IN" dirty="0">
                <a:solidFill>
                  <a:schemeClr val="tx1"/>
                </a:solidFill>
              </a:rPr>
              <a:t>Type: Survey data collected post-COVID from remote/hybrid/onsite employees</a:t>
            </a:r>
          </a:p>
          <a:p>
            <a:pPr marL="596900" lvl="1" indent="0">
              <a:buNone/>
            </a:pPr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>
          <a:extLst>
            <a:ext uri="{FF2B5EF4-FFF2-40B4-BE49-F238E27FC236}">
              <a16:creationId xmlns:a16="http://schemas.microsoft.com/office/drawing/2014/main" id="{0B065E1B-D5B1-F3E8-2FAF-ED43EF1A3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>
            <a:extLst>
              <a:ext uri="{FF2B5EF4-FFF2-40B4-BE49-F238E27FC236}">
                <a16:creationId xmlns:a16="http://schemas.microsoft.com/office/drawing/2014/main" id="{9958B2BD-5D0E-547A-8351-6102BDAE68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7">
            <a:extLst>
              <a:ext uri="{FF2B5EF4-FFF2-40B4-BE49-F238E27FC236}">
                <a16:creationId xmlns:a16="http://schemas.microsoft.com/office/drawing/2014/main" id="{DEC6AAF0-EA02-80EF-CDF4-E623F984CC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62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596900" lvl="1" indent="0">
              <a:buNone/>
            </a:pPr>
            <a:r>
              <a:rPr lang="en-IN" dirty="0">
                <a:solidFill>
                  <a:schemeClr val="tx1"/>
                </a:solidFill>
              </a:rPr>
              <a:t>Sample Columns:</a:t>
            </a:r>
          </a:p>
          <a:p>
            <a:pPr marL="596900" lvl="1" indent="0">
              <a:buNone/>
            </a:pPr>
            <a:endParaRPr lang="en-IN" dirty="0">
              <a:solidFill>
                <a:schemeClr val="tx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7C14523-7DD5-34BB-E13B-A36D6C99B4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6714694"/>
              </p:ext>
            </p:extLst>
          </p:nvPr>
        </p:nvGraphicFramePr>
        <p:xfrm>
          <a:off x="607039" y="1605962"/>
          <a:ext cx="7610536" cy="3226052"/>
        </p:xfrm>
        <a:graphic>
          <a:graphicData uri="http://schemas.openxmlformats.org/drawingml/2006/table">
            <a:tbl>
              <a:tblPr firstRow="1">
                <a:tableStyleId>{284E427A-3D55-4303-BF80-6455036E1DE7}</a:tableStyleId>
              </a:tblPr>
              <a:tblGrid>
                <a:gridCol w="3805268">
                  <a:extLst>
                    <a:ext uri="{9D8B030D-6E8A-4147-A177-3AD203B41FA5}">
                      <a16:colId xmlns:a16="http://schemas.microsoft.com/office/drawing/2014/main" val="2408150268"/>
                    </a:ext>
                  </a:extLst>
                </a:gridCol>
                <a:gridCol w="3805268">
                  <a:extLst>
                    <a:ext uri="{9D8B030D-6E8A-4147-A177-3AD203B41FA5}">
                      <a16:colId xmlns:a16="http://schemas.microsoft.com/office/drawing/2014/main" val="754257673"/>
                    </a:ext>
                  </a:extLst>
                </a:gridCol>
              </a:tblGrid>
              <a:tr h="247643">
                <a:tc>
                  <a:txBody>
                    <a:bodyPr/>
                    <a:lstStyle/>
                    <a:p>
                      <a:r>
                        <a:rPr lang="en-IN" sz="1200" b="1" dirty="0"/>
                        <a:t>Column</a:t>
                      </a:r>
                      <a:endParaRPr lang="en-IN" sz="1200" dirty="0"/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r>
                        <a:rPr lang="en-IN" sz="1200" b="1" dirty="0"/>
                        <a:t>Description</a:t>
                      </a:r>
                      <a:endParaRPr lang="en-IN" sz="1200" dirty="0"/>
                    </a:p>
                  </a:txBody>
                  <a:tcPr marL="78236" marR="78236" marT="39118" marB="39118" anchor="ctr"/>
                </a:tc>
                <a:extLst>
                  <a:ext uri="{0D108BD9-81ED-4DB2-BD59-A6C34878D82A}">
                    <a16:rowId xmlns:a16="http://schemas.microsoft.com/office/drawing/2014/main" val="3264664464"/>
                  </a:ext>
                </a:extLst>
              </a:tr>
              <a:tr h="247643">
                <a:tc>
                  <a:txBody>
                    <a:bodyPr/>
                    <a:lstStyle/>
                    <a:p>
                      <a:r>
                        <a:rPr lang="en-IN" sz="1200"/>
                        <a:t>Employee_ID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Unique identifier for each employee</a:t>
                      </a:r>
                    </a:p>
                  </a:txBody>
                  <a:tcPr marL="78236" marR="78236" marT="39118" marB="39118" anchor="ctr"/>
                </a:tc>
                <a:extLst>
                  <a:ext uri="{0D108BD9-81ED-4DB2-BD59-A6C34878D82A}">
                    <a16:rowId xmlns:a16="http://schemas.microsoft.com/office/drawing/2014/main" val="2360537298"/>
                  </a:ext>
                </a:extLst>
              </a:tr>
              <a:tr h="247643">
                <a:tc>
                  <a:txBody>
                    <a:bodyPr/>
                    <a:lstStyle/>
                    <a:p>
                      <a:r>
                        <a:rPr lang="en-IN" sz="1200"/>
                        <a:t>Age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Age of the employee</a:t>
                      </a:r>
                    </a:p>
                  </a:txBody>
                  <a:tcPr marL="78236" marR="78236" marT="39118" marB="39118" anchor="ctr"/>
                </a:tc>
                <a:extLst>
                  <a:ext uri="{0D108BD9-81ED-4DB2-BD59-A6C34878D82A}">
                    <a16:rowId xmlns:a16="http://schemas.microsoft.com/office/drawing/2014/main" val="3541798657"/>
                  </a:ext>
                </a:extLst>
              </a:tr>
              <a:tr h="247643">
                <a:tc>
                  <a:txBody>
                    <a:bodyPr/>
                    <a:lstStyle/>
                    <a:p>
                      <a:r>
                        <a:rPr lang="en-IN" sz="1200"/>
                        <a:t>Gender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Gender identity</a:t>
                      </a:r>
                    </a:p>
                  </a:txBody>
                  <a:tcPr marL="78236" marR="78236" marT="39118" marB="39118" anchor="ctr"/>
                </a:tc>
                <a:extLst>
                  <a:ext uri="{0D108BD9-81ED-4DB2-BD59-A6C34878D82A}">
                    <a16:rowId xmlns:a16="http://schemas.microsoft.com/office/drawing/2014/main" val="1263556237"/>
                  </a:ext>
                </a:extLst>
              </a:tr>
              <a:tr h="247643">
                <a:tc>
                  <a:txBody>
                    <a:bodyPr/>
                    <a:lstStyle/>
                    <a:p>
                      <a:r>
                        <a:rPr lang="en-IN" sz="1200"/>
                        <a:t>Job_Role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Current role (e.g., Developer, Analyst)</a:t>
                      </a:r>
                    </a:p>
                  </a:txBody>
                  <a:tcPr marL="78236" marR="78236" marT="39118" marB="39118" anchor="ctr"/>
                </a:tc>
                <a:extLst>
                  <a:ext uri="{0D108BD9-81ED-4DB2-BD59-A6C34878D82A}">
                    <a16:rowId xmlns:a16="http://schemas.microsoft.com/office/drawing/2014/main" val="3658797902"/>
                  </a:ext>
                </a:extLst>
              </a:tr>
              <a:tr h="247643">
                <a:tc>
                  <a:txBody>
                    <a:bodyPr/>
                    <a:lstStyle/>
                    <a:p>
                      <a:r>
                        <a:rPr lang="en-IN" sz="1200"/>
                        <a:t>Industry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Industry type (e.g., IT, Education, Finance)</a:t>
                      </a:r>
                    </a:p>
                  </a:txBody>
                  <a:tcPr marL="78236" marR="78236" marT="39118" marB="39118" anchor="ctr"/>
                </a:tc>
                <a:extLst>
                  <a:ext uri="{0D108BD9-81ED-4DB2-BD59-A6C34878D82A}">
                    <a16:rowId xmlns:a16="http://schemas.microsoft.com/office/drawing/2014/main" val="1831097260"/>
                  </a:ext>
                </a:extLst>
              </a:tr>
              <a:tr h="247643">
                <a:tc>
                  <a:txBody>
                    <a:bodyPr/>
                    <a:lstStyle/>
                    <a:p>
                      <a:r>
                        <a:rPr lang="en-IN" sz="1200"/>
                        <a:t>Work_Location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Work setting: Remote / Hybrid / Onsite</a:t>
                      </a:r>
                    </a:p>
                  </a:txBody>
                  <a:tcPr marL="78236" marR="78236" marT="39118" marB="39118" anchor="ctr"/>
                </a:tc>
                <a:extLst>
                  <a:ext uri="{0D108BD9-81ED-4DB2-BD59-A6C34878D82A}">
                    <a16:rowId xmlns:a16="http://schemas.microsoft.com/office/drawing/2014/main" val="3798160018"/>
                  </a:ext>
                </a:extLst>
              </a:tr>
              <a:tr h="346564">
                <a:tc>
                  <a:txBody>
                    <a:bodyPr/>
                    <a:lstStyle/>
                    <a:p>
                      <a:r>
                        <a:rPr lang="en-IN" sz="1200"/>
                        <a:t>Stress_Level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Self-reported stress level (e.g., Low / Medium / High)</a:t>
                      </a:r>
                    </a:p>
                  </a:txBody>
                  <a:tcPr marL="78236" marR="78236" marT="39118" marB="39118" anchor="ctr"/>
                </a:tc>
                <a:extLst>
                  <a:ext uri="{0D108BD9-81ED-4DB2-BD59-A6C34878D82A}">
                    <a16:rowId xmlns:a16="http://schemas.microsoft.com/office/drawing/2014/main" val="321029917"/>
                  </a:ext>
                </a:extLst>
              </a:tr>
              <a:tr h="421088">
                <a:tc>
                  <a:txBody>
                    <a:bodyPr/>
                    <a:lstStyle/>
                    <a:p>
                      <a:r>
                        <a:rPr lang="en-IN" sz="1200"/>
                        <a:t>Mental_Health_Condition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Diagnosed or self-reported condition (Anxiety, Depression, None, etc.)</a:t>
                      </a:r>
                    </a:p>
                  </a:txBody>
                  <a:tcPr marL="78236" marR="78236" marT="39118" marB="39118" anchor="ctr"/>
                </a:tc>
                <a:extLst>
                  <a:ext uri="{0D108BD9-81ED-4DB2-BD59-A6C34878D82A}">
                    <a16:rowId xmlns:a16="http://schemas.microsoft.com/office/drawing/2014/main" val="3975830732"/>
                  </a:ext>
                </a:extLst>
              </a:tr>
              <a:tr h="247643">
                <a:tc>
                  <a:txBody>
                    <a:bodyPr/>
                    <a:lstStyle/>
                    <a:p>
                      <a:r>
                        <a:rPr lang="en-IN" sz="1200"/>
                        <a:t>Social_Isolation_Rating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Rating from 1–5 indicating perceived isolation</a:t>
                      </a:r>
                    </a:p>
                  </a:txBody>
                  <a:tcPr marL="78236" marR="78236" marT="39118" marB="39118" anchor="ctr"/>
                </a:tc>
                <a:extLst>
                  <a:ext uri="{0D108BD9-81ED-4DB2-BD59-A6C34878D82A}">
                    <a16:rowId xmlns:a16="http://schemas.microsoft.com/office/drawing/2014/main" val="1005011806"/>
                  </a:ext>
                </a:extLst>
              </a:tr>
              <a:tr h="346564">
                <a:tc>
                  <a:txBody>
                    <a:bodyPr/>
                    <a:lstStyle/>
                    <a:p>
                      <a:r>
                        <a:rPr lang="en-IN" sz="1200"/>
                        <a:t>Satisfaction_with_Remote_Work</a:t>
                      </a:r>
                    </a:p>
                  </a:txBody>
                  <a:tcPr marL="78236" marR="78236" marT="39118" marB="39118"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Level of satisfaction: Satisfied / Neutral / Unsatisfied</a:t>
                      </a:r>
                    </a:p>
                  </a:txBody>
                  <a:tcPr marL="78236" marR="78236" marT="39118" marB="39118" anchor="ctr"/>
                </a:tc>
                <a:extLst>
                  <a:ext uri="{0D108BD9-81ED-4DB2-BD59-A6C34878D82A}">
                    <a16:rowId xmlns:a16="http://schemas.microsoft.com/office/drawing/2014/main" val="37583106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5787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Proposed Methodology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62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r>
              <a:rPr lang="en-IN" b="1" dirty="0">
                <a:solidFill>
                  <a:schemeClr val="tx1"/>
                </a:solidFill>
              </a:rPr>
              <a:t>Step-by-Step Plan:</a:t>
            </a:r>
            <a:endParaRPr lang="en-IN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Data Cleaning &amp; Preprocessing</a:t>
            </a:r>
            <a:r>
              <a:rPr lang="en-IN" dirty="0">
                <a:solidFill>
                  <a:schemeClr val="tx1"/>
                </a:solidFill>
              </a:rPr>
              <a:t> – Handle missing values, encode categorical data.</a:t>
            </a:r>
          </a:p>
          <a:p>
            <a:r>
              <a:rPr lang="en-IN" b="1" dirty="0">
                <a:solidFill>
                  <a:schemeClr val="tx1"/>
                </a:solidFill>
              </a:rPr>
              <a:t>Exploratory Data Analysis (EDA)</a:t>
            </a:r>
            <a:r>
              <a:rPr lang="en-IN" dirty="0">
                <a:solidFill>
                  <a:schemeClr val="tx1"/>
                </a:solidFill>
              </a:rPr>
              <a:t> – Visualize stress patterns and correlations.</a:t>
            </a:r>
          </a:p>
          <a:p>
            <a:r>
              <a:rPr lang="en-IN" b="1" dirty="0">
                <a:solidFill>
                  <a:schemeClr val="tx1"/>
                </a:solidFill>
              </a:rPr>
              <a:t>Feature Engineering</a:t>
            </a:r>
            <a:r>
              <a:rPr lang="en-IN" dirty="0">
                <a:solidFill>
                  <a:schemeClr val="tx1"/>
                </a:solidFill>
              </a:rPr>
              <a:t> – Create derived features like work-life balance score, isolation index.</a:t>
            </a:r>
          </a:p>
          <a:p>
            <a:r>
              <a:rPr lang="en-IN" b="1" dirty="0">
                <a:solidFill>
                  <a:schemeClr val="tx1"/>
                </a:solidFill>
              </a:rPr>
              <a:t>Modelling</a:t>
            </a:r>
            <a:endParaRPr lang="en-IN" dirty="0">
              <a:solidFill>
                <a:schemeClr val="tx1"/>
              </a:solidFill>
            </a:endParaRPr>
          </a:p>
          <a:p>
            <a:pPr lvl="1"/>
            <a:r>
              <a:rPr lang="en-IN" dirty="0">
                <a:solidFill>
                  <a:schemeClr val="tx1"/>
                </a:solidFill>
              </a:rPr>
              <a:t>Classification model to predict stress levels (e.g., Random Forest, </a:t>
            </a:r>
            <a:r>
              <a:rPr lang="en-IN" dirty="0" err="1">
                <a:solidFill>
                  <a:schemeClr val="tx1"/>
                </a:solidFill>
              </a:rPr>
              <a:t>XGBoost</a:t>
            </a:r>
            <a:r>
              <a:rPr lang="en-IN" dirty="0">
                <a:solidFill>
                  <a:schemeClr val="tx1"/>
                </a:solidFill>
              </a:rPr>
              <a:t>).</a:t>
            </a:r>
          </a:p>
          <a:p>
            <a:pPr lvl="1"/>
            <a:r>
              <a:rPr lang="en-IN" dirty="0">
                <a:solidFill>
                  <a:schemeClr val="tx1"/>
                </a:solidFill>
              </a:rPr>
              <a:t>Sentiment analysis on textual responses (if present).</a:t>
            </a:r>
          </a:p>
          <a:p>
            <a:r>
              <a:rPr lang="en-IN" b="1" dirty="0">
                <a:solidFill>
                  <a:schemeClr val="tx1"/>
                </a:solidFill>
              </a:rPr>
              <a:t>Recommendation System</a:t>
            </a:r>
            <a:endParaRPr lang="en-IN" dirty="0">
              <a:solidFill>
                <a:schemeClr val="tx1"/>
              </a:solidFill>
            </a:endParaRPr>
          </a:p>
          <a:p>
            <a:pPr lvl="1"/>
            <a:r>
              <a:rPr lang="en-IN" dirty="0">
                <a:solidFill>
                  <a:schemeClr val="tx1"/>
                </a:solidFill>
              </a:rPr>
              <a:t>Rule-based system to offer HR/end-user suggestions based on model output.</a:t>
            </a:r>
          </a:p>
          <a:p>
            <a:r>
              <a:rPr lang="en-IN" b="1" dirty="0">
                <a:solidFill>
                  <a:schemeClr val="tx1"/>
                </a:solidFill>
              </a:rPr>
              <a:t>UI Development</a:t>
            </a:r>
            <a:endParaRPr lang="en-IN" dirty="0">
              <a:solidFill>
                <a:schemeClr val="tx1"/>
              </a:solidFill>
            </a:endParaRPr>
          </a:p>
          <a:p>
            <a:pPr lvl="1"/>
            <a:r>
              <a:rPr lang="en-IN" dirty="0">
                <a:solidFill>
                  <a:schemeClr val="tx1"/>
                </a:solidFill>
              </a:rPr>
              <a:t>Simple interface to input employee data and view predictions/recommendations.</a:t>
            </a:r>
          </a:p>
          <a:p>
            <a:pPr lvl="1"/>
            <a:r>
              <a:rPr lang="en-IN" dirty="0">
                <a:solidFill>
                  <a:schemeClr val="tx1"/>
                </a:solidFill>
              </a:rPr>
              <a:t>Built using </a:t>
            </a:r>
            <a:r>
              <a:rPr lang="en-IN" dirty="0" err="1">
                <a:solidFill>
                  <a:schemeClr val="tx1"/>
                </a:solidFill>
              </a:rPr>
              <a:t>Streamlit</a:t>
            </a:r>
            <a:r>
              <a:rPr lang="en-IN" dirty="0">
                <a:solidFill>
                  <a:schemeClr val="tx1"/>
                </a:solidFill>
              </a:rPr>
              <a:t> or Dash.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Timeline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dirty="0">
              <a:solidFill>
                <a:schemeClr val="dk1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1553AE7-4C42-117B-4719-E14ACA6898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9482473"/>
              </p:ext>
            </p:extLst>
          </p:nvPr>
        </p:nvGraphicFramePr>
        <p:xfrm>
          <a:off x="311150" y="1641475"/>
          <a:ext cx="8521700" cy="2438400"/>
        </p:xfrm>
        <a:graphic>
          <a:graphicData uri="http://schemas.openxmlformats.org/drawingml/2006/table">
            <a:tbl>
              <a:tblPr firstRow="1">
                <a:tableStyleId>{284E427A-3D55-4303-BF80-6455036E1DE7}</a:tableStyleId>
              </a:tblPr>
              <a:tblGrid>
                <a:gridCol w="4260850">
                  <a:extLst>
                    <a:ext uri="{9D8B030D-6E8A-4147-A177-3AD203B41FA5}">
                      <a16:colId xmlns:a16="http://schemas.microsoft.com/office/drawing/2014/main" val="327215877"/>
                    </a:ext>
                  </a:extLst>
                </a:gridCol>
                <a:gridCol w="4260850">
                  <a:extLst>
                    <a:ext uri="{9D8B030D-6E8A-4147-A177-3AD203B41FA5}">
                      <a16:colId xmlns:a16="http://schemas.microsoft.com/office/drawing/2014/main" val="13229606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Week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Milestone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6475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Problem definition, literature review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2566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Data collection &amp; cleaning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68792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EDA &amp; feature engineering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8993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4-5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Model development &amp; tuning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30678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UI/Tool development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7686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Integration &amp; testing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2117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Final evaluation &amp; report writing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313978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2FCA6-B8F3-5700-7B56-EB36D71DA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05446187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463</Words>
  <Application>Microsoft Macintosh PowerPoint</Application>
  <PresentationFormat>On-screen Show (16:9)</PresentationFormat>
  <Paragraphs>82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Simple Light</vt:lpstr>
      <vt:lpstr>The Impact of Remote Work on Mental Health: A Data-Driven Tool for Early Stress Detection</vt:lpstr>
      <vt:lpstr>Contents</vt:lpstr>
      <vt:lpstr>Problem </vt:lpstr>
      <vt:lpstr>Research Question  </vt:lpstr>
      <vt:lpstr>Data  </vt:lpstr>
      <vt:lpstr>Data  </vt:lpstr>
      <vt:lpstr>Proposed Methodology  </vt:lpstr>
      <vt:lpstr>Project Timeline  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Kumar, Ashish {PEP}</cp:lastModifiedBy>
  <cp:revision>1</cp:revision>
  <dcterms:modified xsi:type="dcterms:W3CDTF">2025-06-09T17:32:53Z</dcterms:modified>
</cp:coreProperties>
</file>